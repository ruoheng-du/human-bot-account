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oboto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43144F-C837-4000-9067-418936439FD6}">
  <a:tblStyle styleId="{7043144F-C837-4000-9067-418936439F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Mono-bold.fntdata"/><Relationship Id="rId16" Type="http://schemas.openxmlformats.org/officeDocument/2006/relationships/font" Target="fonts/RobotoMono-regular.fntdata"/><Relationship Id="rId5" Type="http://schemas.openxmlformats.org/officeDocument/2006/relationships/slideMaster" Target="slideMasters/slideMaster1.xml"/><Relationship Id="rId19" Type="http://schemas.openxmlformats.org/officeDocument/2006/relationships/font" Target="fonts/RobotoMono-boldItalic.fntdata"/><Relationship Id="rId6" Type="http://schemas.openxmlformats.org/officeDocument/2006/relationships/notesMaster" Target="notesMasters/notesMaster1.xml"/><Relationship Id="rId18" Type="http://schemas.openxmlformats.org/officeDocument/2006/relationships/font" Target="fonts/RobotoMono-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Dataset: </a:t>
            </a:r>
            <a:r>
              <a:rPr lang="zh-CN">
                <a:solidFill>
                  <a:schemeClr val="dk1"/>
                </a:solidFill>
              </a:rPr>
              <a:t>https://www.kaggle.com/code/davidmartngutirrez/bots-accounts-eda/input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18cff010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18cff010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zh-CN">
                <a:solidFill>
                  <a:schemeClr val="dk1"/>
                </a:solidFill>
              </a:rPr>
              <a:t>Overview</a:t>
            </a:r>
            <a:r>
              <a:rPr lang="zh-CN">
                <a:solidFill>
                  <a:schemeClr val="dk1"/>
                </a:solidFill>
              </a:rPr>
              <a:t>:</a:t>
            </a:r>
            <a:r>
              <a:rPr b="1" lang="zh-CN">
                <a:solidFill>
                  <a:schemeClr val="dk1"/>
                </a:solidFill>
              </a:rPr>
              <a:t> </a:t>
            </a:r>
            <a:r>
              <a:rPr lang="zh-CN">
                <a:solidFill>
                  <a:schemeClr val="dk1"/>
                </a:solidFill>
              </a:rPr>
              <a:t>The dataset contains 37,438 entries and 19 columns. Key features include numerical columns such as </a:t>
            </a:r>
            <a:r>
              <a:rPr lang="zh-CN">
                <a:solidFill>
                  <a:srgbClr val="188038"/>
                </a:solidFill>
                <a:latin typeface="Roboto Mono"/>
                <a:ea typeface="Roboto Mono"/>
                <a:cs typeface="Roboto Mono"/>
                <a:sym typeface="Roboto Mono"/>
              </a:rPr>
              <a:t>favourites_count</a:t>
            </a:r>
            <a:r>
              <a:rPr lang="zh-CN">
                <a:solidFill>
                  <a:schemeClr val="dk1"/>
                </a:solidFill>
              </a:rPr>
              <a:t>, </a:t>
            </a:r>
            <a:r>
              <a:rPr lang="zh-CN">
                <a:solidFill>
                  <a:srgbClr val="188038"/>
                </a:solidFill>
                <a:latin typeface="Roboto Mono"/>
                <a:ea typeface="Roboto Mono"/>
                <a:cs typeface="Roboto Mono"/>
                <a:sym typeface="Roboto Mono"/>
              </a:rPr>
              <a:t>followers_count</a:t>
            </a:r>
            <a:r>
              <a:rPr lang="zh-CN">
                <a:solidFill>
                  <a:schemeClr val="dk1"/>
                </a:solidFill>
              </a:rPr>
              <a:t>, and boolean columns like </a:t>
            </a:r>
            <a:r>
              <a:rPr lang="zh-CN">
                <a:solidFill>
                  <a:srgbClr val="188038"/>
                </a:solidFill>
                <a:latin typeface="Roboto Mono"/>
                <a:ea typeface="Roboto Mono"/>
                <a:cs typeface="Roboto Mono"/>
                <a:sym typeface="Roboto Mono"/>
              </a:rPr>
              <a:t>verified</a:t>
            </a:r>
            <a:r>
              <a:rPr lang="zh-CN">
                <a:solidFill>
                  <a:schemeClr val="dk1"/>
                </a:solidFill>
              </a:rPr>
              <a:t>. </a:t>
            </a:r>
            <a:endParaRPr>
              <a:solidFill>
                <a:schemeClr val="dk1"/>
              </a:solidFill>
            </a:endParaRPr>
          </a:p>
          <a:p>
            <a:pPr indent="-298450" lvl="0" marL="457200" rtl="0" algn="l">
              <a:lnSpc>
                <a:spcPct val="115000"/>
              </a:lnSpc>
              <a:spcBef>
                <a:spcPts val="0"/>
              </a:spcBef>
              <a:spcAft>
                <a:spcPts val="0"/>
              </a:spcAft>
              <a:buSzPts val="1100"/>
              <a:buChar char="-"/>
            </a:pPr>
            <a:r>
              <a:rPr b="1" lang="zh-CN">
                <a:solidFill>
                  <a:schemeClr val="dk1"/>
                </a:solidFill>
              </a:rPr>
              <a:t>Target Distribution</a:t>
            </a:r>
            <a:r>
              <a:rPr lang="zh-CN">
                <a:solidFill>
                  <a:schemeClr val="dk1"/>
                </a:solidFill>
              </a:rPr>
              <a:t>: The </a:t>
            </a:r>
            <a:r>
              <a:rPr lang="zh-CN">
                <a:solidFill>
                  <a:srgbClr val="188038"/>
                </a:solidFill>
                <a:latin typeface="Roboto Mono"/>
                <a:ea typeface="Roboto Mono"/>
                <a:cs typeface="Roboto Mono"/>
                <a:sym typeface="Roboto Mono"/>
              </a:rPr>
              <a:t>account_type</a:t>
            </a:r>
            <a:r>
              <a:rPr lang="zh-CN">
                <a:solidFill>
                  <a:schemeClr val="dk1"/>
                </a:solidFill>
              </a:rPr>
              <a:t> feature is the target variable, with about 66.8% human accounts and 33.2% bot accounts.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118cff010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118cff010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zh-CN">
                <a:solidFill>
                  <a:schemeClr val="dk1"/>
                </a:solidFill>
              </a:rPr>
              <a:t>Purpose of Data Cleaning</a:t>
            </a:r>
            <a:r>
              <a:rPr lang="zh-CN">
                <a:solidFill>
                  <a:schemeClr val="dk1"/>
                </a:solidFill>
              </a:rPr>
              <a:t>: </a:t>
            </a:r>
            <a:r>
              <a:rPr lang="zh-CN"/>
              <a:t>Data cleaning helps in reducing the dimensionality of the dataset, which simplifies the model, improves computational efficiency, and avoids overfitting. </a:t>
            </a:r>
            <a:endParaRPr/>
          </a:p>
          <a:p>
            <a:pPr indent="-298450" lvl="0" marL="457200" rtl="0" algn="l">
              <a:lnSpc>
                <a:spcPct val="115000"/>
              </a:lnSpc>
              <a:spcBef>
                <a:spcPts val="0"/>
              </a:spcBef>
              <a:spcAft>
                <a:spcPts val="0"/>
              </a:spcAft>
              <a:buSzPts val="1100"/>
              <a:buChar char="-"/>
            </a:pPr>
            <a:r>
              <a:rPr b="1" lang="zh-CN"/>
              <a:t>Purpose of Dropping Non-informative Features</a:t>
            </a:r>
            <a:r>
              <a:rPr lang="zh-CN"/>
              <a:t>: By dropping non-informative features, we ensure that only the most relevant information is used, which can lead to better model performance and more interpretable results.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18cff010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18cff010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b="1" lang="zh-CN">
                <a:solidFill>
                  <a:schemeClr val="dk1"/>
                </a:solidFill>
              </a:rPr>
              <a:t>Purpose of Handling Missing Values</a:t>
            </a:r>
            <a:r>
              <a:rPr lang="zh-CN">
                <a:solidFill>
                  <a:schemeClr val="dk1"/>
                </a:solidFill>
              </a:rPr>
              <a:t>: Missing values can lead to bias and impact model accuracy if not handled properly. Each strategy was chosen to minimize information loss and improve data quality.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298450" lvl="0" marL="457200" rtl="0" algn="l">
              <a:spcBef>
                <a:spcPts val="0"/>
              </a:spcBef>
              <a:spcAft>
                <a:spcPts val="0"/>
              </a:spcAft>
              <a:buClr>
                <a:schemeClr val="dk1"/>
              </a:buClr>
              <a:buSzPts val="1100"/>
              <a:buChar char="-"/>
            </a:pPr>
            <a:r>
              <a:rPr b="1" lang="zh-CN">
                <a:solidFill>
                  <a:schemeClr val="dk1"/>
                </a:solidFill>
              </a:rPr>
              <a:t>Key Insights</a:t>
            </a:r>
            <a:r>
              <a:rPr lang="zh-CN">
                <a:solidFill>
                  <a:schemeClr val="dk1"/>
                </a:solidFill>
              </a:rPr>
              <a:t>:</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lang="zh-CN">
                <a:solidFill>
                  <a:schemeClr val="dk1"/>
                </a:solidFill>
              </a:rPr>
              <a:t>Removing a small number of entries (</a:t>
            </a:r>
            <a:r>
              <a:rPr lang="zh-CN">
                <a:solidFill>
                  <a:srgbClr val="188038"/>
                </a:solidFill>
                <a:latin typeface="Roboto Mono"/>
                <a:ea typeface="Roboto Mono"/>
                <a:cs typeface="Roboto Mono"/>
                <a:sym typeface="Roboto Mono"/>
              </a:rPr>
              <a:t>location</a:t>
            </a:r>
            <a:r>
              <a:rPr lang="zh-CN">
                <a:solidFill>
                  <a:schemeClr val="dk1"/>
                </a:solidFill>
              </a:rPr>
              <a:t>) reduces complexity without major loss.</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lang="zh-CN">
                <a:solidFill>
                  <a:schemeClr val="dk1"/>
                </a:solidFill>
              </a:rPr>
              <a:t>Imputing missing values (</a:t>
            </a:r>
            <a:r>
              <a:rPr lang="zh-CN">
                <a:solidFill>
                  <a:srgbClr val="188038"/>
                </a:solidFill>
                <a:latin typeface="Roboto Mono"/>
                <a:ea typeface="Roboto Mono"/>
                <a:cs typeface="Roboto Mono"/>
                <a:sym typeface="Roboto Mono"/>
              </a:rPr>
              <a:t>lang</a:t>
            </a:r>
            <a:r>
              <a:rPr lang="zh-CN">
                <a:solidFill>
                  <a:schemeClr val="dk1"/>
                </a:solidFill>
              </a:rPr>
              <a:t> and </a:t>
            </a:r>
            <a:r>
              <a:rPr lang="zh-CN">
                <a:solidFill>
                  <a:srgbClr val="188038"/>
                </a:solidFill>
                <a:latin typeface="Roboto Mono"/>
                <a:ea typeface="Roboto Mono"/>
                <a:cs typeface="Roboto Mono"/>
                <a:sym typeface="Roboto Mono"/>
              </a:rPr>
              <a:t>description</a:t>
            </a:r>
            <a:r>
              <a:rPr lang="zh-CN">
                <a:solidFill>
                  <a:schemeClr val="dk1"/>
                </a:solidFill>
              </a:rPr>
              <a:t>) helps maintain patterns and ensures that all data can be used effectively during model training.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118cff010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118cff010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zh-CN">
                <a:solidFill>
                  <a:schemeClr val="dk1"/>
                </a:solidFill>
              </a:rPr>
              <a:t>Handling Skewness</a:t>
            </a:r>
            <a:r>
              <a:rPr lang="zh-CN">
                <a:solidFill>
                  <a:schemeClr val="dk1"/>
                </a:solidFill>
              </a:rPr>
              <a:t>: The initial histograms showed that many numerical features were highly skewed, with a long tail due to a few very large values. To address this, we applied a log transformation to features like </a:t>
            </a:r>
            <a:r>
              <a:rPr lang="zh-CN">
                <a:solidFill>
                  <a:srgbClr val="188038"/>
                </a:solidFill>
                <a:latin typeface="Roboto Mono"/>
                <a:ea typeface="Roboto Mono"/>
                <a:cs typeface="Roboto Mono"/>
                <a:sym typeface="Roboto Mono"/>
              </a:rPr>
              <a:t>favourites_count</a:t>
            </a:r>
            <a:r>
              <a:rPr lang="zh-CN">
                <a:solidFill>
                  <a:schemeClr val="dk1"/>
                </a:solidFill>
              </a:rPr>
              <a:t>, </a:t>
            </a:r>
            <a:r>
              <a:rPr lang="zh-CN">
                <a:solidFill>
                  <a:srgbClr val="188038"/>
                </a:solidFill>
                <a:latin typeface="Roboto Mono"/>
                <a:ea typeface="Roboto Mono"/>
                <a:cs typeface="Roboto Mono"/>
                <a:sym typeface="Roboto Mono"/>
              </a:rPr>
              <a:t>followers_count</a:t>
            </a:r>
            <a:r>
              <a:rPr lang="zh-CN">
                <a:solidFill>
                  <a:schemeClr val="dk1"/>
                </a:solidFill>
              </a:rPr>
              <a:t>, </a:t>
            </a:r>
            <a:r>
              <a:rPr lang="zh-CN">
                <a:solidFill>
                  <a:srgbClr val="188038"/>
                </a:solidFill>
                <a:latin typeface="Roboto Mono"/>
                <a:ea typeface="Roboto Mono"/>
                <a:cs typeface="Roboto Mono"/>
                <a:sym typeface="Roboto Mono"/>
              </a:rPr>
              <a:t>friends_count</a:t>
            </a:r>
            <a:r>
              <a:rPr lang="zh-CN">
                <a:solidFill>
                  <a:schemeClr val="dk1"/>
                </a:solidFill>
              </a:rPr>
              <a:t>, and </a:t>
            </a:r>
            <a:r>
              <a:rPr lang="zh-CN">
                <a:solidFill>
                  <a:srgbClr val="188038"/>
                </a:solidFill>
                <a:latin typeface="Roboto Mono"/>
                <a:ea typeface="Roboto Mono"/>
                <a:cs typeface="Roboto Mono"/>
                <a:sym typeface="Roboto Mono"/>
              </a:rPr>
              <a:t>average_tweets_per_day</a:t>
            </a:r>
            <a:r>
              <a:rPr lang="zh-CN">
                <a:solidFill>
                  <a:schemeClr val="dk1"/>
                </a:solidFill>
              </a:rPr>
              <a:t>. This transformation helps in reducing the skewness and makes the data more normally distributed, which can improve model performance, especially for models sensitive to feature distributions like linear regression.</a:t>
            </a:r>
            <a:endParaRPr>
              <a:solidFill>
                <a:schemeClr val="dk1"/>
              </a:solidFill>
            </a:endParaRPr>
          </a:p>
          <a:p>
            <a:pPr indent="-298450" lvl="0" marL="457200" rtl="0" algn="l">
              <a:lnSpc>
                <a:spcPct val="115000"/>
              </a:lnSpc>
              <a:spcBef>
                <a:spcPts val="0"/>
              </a:spcBef>
              <a:spcAft>
                <a:spcPts val="0"/>
              </a:spcAft>
              <a:buSzPts val="1100"/>
              <a:buChar char="-"/>
            </a:pPr>
            <a:r>
              <a:rPr b="1" lang="zh-CN">
                <a:solidFill>
                  <a:schemeClr val="dk1"/>
                </a:solidFill>
              </a:rPr>
              <a:t>Correlation and Feature Selection</a:t>
            </a:r>
            <a:r>
              <a:rPr lang="zh-CN">
                <a:solidFill>
                  <a:schemeClr val="dk1"/>
                </a:solidFill>
              </a:rPr>
              <a:t>: After plotting the correlation matrix, we observed a strong correlation between </a:t>
            </a:r>
            <a:r>
              <a:rPr lang="zh-CN">
                <a:solidFill>
                  <a:srgbClr val="188038"/>
                </a:solidFill>
                <a:latin typeface="Roboto Mono"/>
                <a:ea typeface="Roboto Mono"/>
                <a:cs typeface="Roboto Mono"/>
                <a:sym typeface="Roboto Mono"/>
              </a:rPr>
              <a:t>statuses_count</a:t>
            </a:r>
            <a:r>
              <a:rPr lang="zh-CN">
                <a:solidFill>
                  <a:schemeClr val="dk1"/>
                </a:solidFill>
              </a:rPr>
              <a:t> and </a:t>
            </a:r>
            <a:r>
              <a:rPr lang="zh-CN">
                <a:solidFill>
                  <a:srgbClr val="188038"/>
                </a:solidFill>
                <a:latin typeface="Roboto Mono"/>
                <a:ea typeface="Roboto Mono"/>
                <a:cs typeface="Roboto Mono"/>
                <a:sym typeface="Roboto Mono"/>
              </a:rPr>
              <a:t>average_tweets_per_day</a:t>
            </a:r>
            <a:r>
              <a:rPr lang="zh-CN">
                <a:solidFill>
                  <a:schemeClr val="dk1"/>
                </a:solidFill>
              </a:rPr>
              <a:t> (correlation coefficient &gt; 0.9). To prevent multicollinearity, which could negatively affect the model, we decided to remove </a:t>
            </a:r>
            <a:r>
              <a:rPr lang="zh-CN">
                <a:solidFill>
                  <a:srgbClr val="188038"/>
                </a:solidFill>
                <a:latin typeface="Roboto Mono"/>
                <a:ea typeface="Roboto Mono"/>
                <a:cs typeface="Roboto Mono"/>
                <a:sym typeface="Roboto Mono"/>
              </a:rPr>
              <a:t>statuses_count</a:t>
            </a:r>
            <a:r>
              <a:rPr lang="zh-CN">
                <a:solidFill>
                  <a:schemeClr val="dk1"/>
                </a:solidFill>
              </a:rPr>
              <a:t>. This ensures that the model is not overfitting or being influenced by redundant information.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Purpose</a:t>
            </a:r>
            <a:r>
              <a:rPr lang="zh-CN">
                <a:solidFill>
                  <a:schemeClr val="dk1"/>
                </a:solidFill>
              </a:rPr>
              <a:t>: By reducing skewness and handling correlated features, we aim to achieve better generalizability and robustness in the subsequent models.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18cff010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18cff010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b="1" lang="zh-CN">
                <a:solidFill>
                  <a:schemeClr val="dk1"/>
                </a:solidFill>
              </a:rPr>
              <a:t>Distributions</a:t>
            </a:r>
            <a:r>
              <a:rPr lang="zh-CN">
                <a:solidFill>
                  <a:schemeClr val="dk1"/>
                </a:solidFill>
              </a:rPr>
              <a:t>: The bar charts help to visualize the differences in the distribution of boolean features between human and bot accounts. For example, accounts with a </a:t>
            </a:r>
            <a:r>
              <a:rPr lang="zh-CN">
                <a:solidFill>
                  <a:srgbClr val="188038"/>
                </a:solidFill>
                <a:latin typeface="Roboto Mono"/>
                <a:ea typeface="Roboto Mono"/>
                <a:cs typeface="Roboto Mono"/>
                <a:sym typeface="Roboto Mono"/>
              </a:rPr>
              <a:t>default_description</a:t>
            </a:r>
            <a:r>
              <a:rPr lang="zh-CN">
                <a:solidFill>
                  <a:schemeClr val="dk1"/>
                </a:solidFill>
              </a:rPr>
              <a:t> are more likely to be bots.</a:t>
            </a:r>
            <a:endParaRPr b="1">
              <a:solidFill>
                <a:schemeClr val="dk1"/>
              </a:solidFill>
            </a:endParaRPr>
          </a:p>
          <a:p>
            <a:pPr indent="-298450" lvl="0" marL="457200" rtl="0" algn="l">
              <a:lnSpc>
                <a:spcPct val="115000"/>
              </a:lnSpc>
              <a:spcBef>
                <a:spcPts val="0"/>
              </a:spcBef>
              <a:spcAft>
                <a:spcPts val="0"/>
              </a:spcAft>
              <a:buSzPts val="1100"/>
              <a:buChar char="-"/>
            </a:pPr>
            <a:r>
              <a:rPr b="1" lang="zh-CN">
                <a:solidFill>
                  <a:schemeClr val="dk1"/>
                </a:solidFill>
              </a:rPr>
              <a:t>Chi-Square Test</a:t>
            </a:r>
            <a:r>
              <a:rPr lang="zh-CN">
                <a:solidFill>
                  <a:schemeClr val="dk1"/>
                </a:solidFill>
              </a:rPr>
              <a:t>: The chi-square test was performed to assess whether each boolean feature was significantly associated with the target variable (</a:t>
            </a:r>
            <a:r>
              <a:rPr lang="zh-CN">
                <a:solidFill>
                  <a:srgbClr val="188038"/>
                </a:solidFill>
                <a:latin typeface="Roboto Mono"/>
                <a:ea typeface="Roboto Mono"/>
                <a:cs typeface="Roboto Mono"/>
                <a:sym typeface="Roboto Mono"/>
              </a:rPr>
              <a:t>account_type</a:t>
            </a:r>
            <a:r>
              <a:rPr lang="zh-CN">
                <a:solidFill>
                  <a:schemeClr val="dk1"/>
                </a:solidFill>
              </a:rPr>
              <a:t>). A significant result implies that the feature is informative and likely useful for model differentiation between humans and bots.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18cff010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18cff010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zh-CN">
                <a:solidFill>
                  <a:schemeClr val="dk1"/>
                </a:solidFill>
              </a:rPr>
              <a:t>Rationale for Grouping Rare Categories</a:t>
            </a:r>
            <a:r>
              <a:rPr lang="zh-CN">
                <a:solidFill>
                  <a:schemeClr val="dk1"/>
                </a:solidFill>
              </a:rPr>
              <a:t>: Rare categories can lead to unreliable encoded values, especially when using target encoding, as they are heavily influenced by individual data points. By grouping them into "Other," we reduce the risk of overfitting and improve model stability.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Rationale for Train-Test Split</a:t>
            </a:r>
            <a:r>
              <a:rPr lang="zh-CN">
                <a:solidFill>
                  <a:schemeClr val="dk1"/>
                </a:solidFill>
              </a:rPr>
              <a:t>: The stratified split helps maintain the class distribution across all sets, ensuring consistent performance evaluation.</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118cff010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118cff010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zh-CN">
                <a:solidFill>
                  <a:schemeClr val="dk1"/>
                </a:solidFill>
              </a:rPr>
              <a:t>Purpose of Preprocessing</a:t>
            </a:r>
            <a:r>
              <a:rPr lang="zh-CN">
                <a:solidFill>
                  <a:schemeClr val="dk1"/>
                </a:solidFill>
              </a:rPr>
              <a:t>: Scaling and encoding are essential for improving the performance of machine learning models. Scaling helps in ensuring that numerical features contribute equally to the model, while encoding transforms categorical variables into a form that can be interpreted by the model, capturing their relationship with the target variable.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18cff010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18cff010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zh-CN">
                <a:solidFill>
                  <a:schemeClr val="dk1"/>
                </a:solidFill>
              </a:rPr>
              <a:t>Model Selection Rationale</a:t>
            </a:r>
            <a:r>
              <a:rPr lang="zh-CN">
                <a:solidFill>
                  <a:schemeClr val="dk1"/>
                </a:solidFill>
              </a:rPr>
              <a:t>: Based on the t-SNE visualization, the data has clusters that suggest a non-linear decision boundary, making models like SVM, tree-based models, and neural networks suitable for capturing these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Handling Imbalanced Data</a:t>
            </a:r>
            <a:r>
              <a:rPr lang="zh-CN">
                <a:solidFill>
                  <a:schemeClr val="dk1"/>
                </a:solidFill>
              </a:rPr>
              <a:t>: Due to the class imbalance between human and bot accounts, techniques like using balanced weights in models could help improve model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CN">
                <a:solidFill>
                  <a:schemeClr val="dk1"/>
                </a:solidFill>
              </a:rPr>
              <a:t>Evaluation Metrics</a:t>
            </a:r>
            <a:r>
              <a:rPr lang="zh-CN">
                <a:solidFill>
                  <a:schemeClr val="dk1"/>
                </a:solidFill>
              </a:rPr>
              <a:t>: Given the imbalanced nature of the dataset, AUC/ROC is an appropriate metric as it evaluates the model's ability to distinguish between classes. Additionally, precision, recall, and F1-score are crucial for understanding the trade-offs between false positives and false negatives, particularly important in distinguishing bots from human accounts.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349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zh-CN" sz="4000"/>
              <a:t>Twitter Account Classification</a:t>
            </a:r>
            <a:endParaRPr sz="4000"/>
          </a:p>
        </p:txBody>
      </p:sp>
      <p:sp>
        <p:nvSpPr>
          <p:cNvPr id="55" name="Google Shape;55;p13"/>
          <p:cNvSpPr txBox="1"/>
          <p:nvPr>
            <p:ph idx="1" type="subTitle"/>
          </p:nvPr>
        </p:nvSpPr>
        <p:spPr>
          <a:xfrm>
            <a:off x="311700" y="22344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CN"/>
              <a:t>Project Deliverable #2</a:t>
            </a:r>
            <a:endParaRPr/>
          </a:p>
        </p:txBody>
      </p:sp>
      <p:sp>
        <p:nvSpPr>
          <p:cNvPr id="56" name="Google Shape;56;p13"/>
          <p:cNvSpPr txBox="1"/>
          <p:nvPr>
            <p:ph idx="1" type="subTitle"/>
          </p:nvPr>
        </p:nvSpPr>
        <p:spPr>
          <a:xfrm>
            <a:off x="311700" y="3374025"/>
            <a:ext cx="8520600" cy="792600"/>
          </a:xfrm>
          <a:prstGeom prst="rect">
            <a:avLst/>
          </a:prstGeom>
        </p:spPr>
        <p:txBody>
          <a:bodyPr anchorCtr="0" anchor="t" bIns="91425" lIns="91425" spcFirstLastPara="1" rIns="91425" wrap="square" tIns="91425">
            <a:normAutofit fontScale="92500" lnSpcReduction="10000"/>
          </a:bodyPr>
          <a:lstStyle/>
          <a:p>
            <a:pPr indent="0" lvl="0" marL="0" marR="0" rtl="0" algn="ctr">
              <a:lnSpc>
                <a:spcPct val="150000"/>
              </a:lnSpc>
              <a:spcBef>
                <a:spcPts val="0"/>
              </a:spcBef>
              <a:spcAft>
                <a:spcPts val="0"/>
              </a:spcAft>
              <a:buNone/>
            </a:pPr>
            <a:r>
              <a:rPr lang="zh-CN" sz="1800">
                <a:solidFill>
                  <a:schemeClr val="dk1"/>
                </a:solidFill>
              </a:rPr>
              <a:t>Group 7</a:t>
            </a:r>
            <a:endParaRPr sz="1800">
              <a:solidFill>
                <a:schemeClr val="dk1"/>
              </a:solidFill>
            </a:endParaRPr>
          </a:p>
          <a:p>
            <a:pPr indent="0" lvl="0" marL="0" marR="0" rtl="0" algn="ctr">
              <a:lnSpc>
                <a:spcPct val="150000"/>
              </a:lnSpc>
              <a:spcBef>
                <a:spcPts val="0"/>
              </a:spcBef>
              <a:spcAft>
                <a:spcPts val="0"/>
              </a:spcAft>
              <a:buNone/>
            </a:pPr>
            <a:r>
              <a:rPr lang="zh-CN" sz="1800">
                <a:solidFill>
                  <a:schemeClr val="dk1"/>
                </a:solidFill>
              </a:rPr>
              <a:t>Shivank Agrawal, Ruoheng Du, Yiwen Ge, Yandong Xiang</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5570475" y="3206238"/>
            <a:ext cx="2797100" cy="1338325"/>
          </a:xfrm>
          <a:prstGeom prst="rect">
            <a:avLst/>
          </a:prstGeom>
          <a:noFill/>
          <a:ln>
            <a:noFill/>
          </a:ln>
        </p:spPr>
      </p:pic>
      <p:grpSp>
        <p:nvGrpSpPr>
          <p:cNvPr id="62" name="Google Shape;62;p14"/>
          <p:cNvGrpSpPr/>
          <p:nvPr/>
        </p:nvGrpSpPr>
        <p:grpSpPr>
          <a:xfrm>
            <a:off x="382751" y="175238"/>
            <a:ext cx="5167199" cy="4793024"/>
            <a:chOff x="382751" y="175238"/>
            <a:chExt cx="5167199" cy="4793024"/>
          </a:xfrm>
        </p:grpSpPr>
        <p:pic>
          <p:nvPicPr>
            <p:cNvPr id="63" name="Google Shape;63;p14"/>
            <p:cNvPicPr preferRelativeResize="0"/>
            <p:nvPr/>
          </p:nvPicPr>
          <p:blipFill>
            <a:blip r:embed="rId4">
              <a:alphaModFix/>
            </a:blip>
            <a:stretch>
              <a:fillRect/>
            </a:stretch>
          </p:blipFill>
          <p:spPr>
            <a:xfrm>
              <a:off x="382751" y="175238"/>
              <a:ext cx="4512076" cy="4793024"/>
            </a:xfrm>
            <a:prstGeom prst="rect">
              <a:avLst/>
            </a:prstGeom>
            <a:noFill/>
            <a:ln>
              <a:noFill/>
            </a:ln>
          </p:spPr>
        </p:pic>
        <p:sp>
          <p:nvSpPr>
            <p:cNvPr id="64" name="Google Shape;64;p14"/>
            <p:cNvSpPr/>
            <p:nvPr/>
          </p:nvSpPr>
          <p:spPr>
            <a:xfrm>
              <a:off x="791050" y="4382875"/>
              <a:ext cx="1031100" cy="176100"/>
            </a:xfrm>
            <a:prstGeom prst="rect">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 name="Google Shape;65;p14"/>
            <p:cNvCxnSpPr/>
            <p:nvPr/>
          </p:nvCxnSpPr>
          <p:spPr>
            <a:xfrm flipH="1" rot="10800000">
              <a:off x="1822150" y="4544575"/>
              <a:ext cx="3727800" cy="15600"/>
            </a:xfrm>
            <a:prstGeom prst="straightConnector1">
              <a:avLst/>
            </a:prstGeom>
            <a:noFill/>
            <a:ln cap="flat" cmpd="sng" w="28575">
              <a:solidFill>
                <a:schemeClr val="accent5"/>
              </a:solidFill>
              <a:prstDash val="solid"/>
              <a:round/>
              <a:headEnd len="med" w="med" type="none"/>
              <a:tailEnd len="med" w="med" type="triangle"/>
            </a:ln>
          </p:spPr>
        </p:cxn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Data Cleaning: Drop Non-informative Features  </a:t>
            </a:r>
            <a:endParaRPr sz="2000"/>
          </a:p>
        </p:txBody>
      </p:sp>
      <p:grpSp>
        <p:nvGrpSpPr>
          <p:cNvPr id="71" name="Google Shape;71;p15"/>
          <p:cNvGrpSpPr/>
          <p:nvPr/>
        </p:nvGrpSpPr>
        <p:grpSpPr>
          <a:xfrm>
            <a:off x="382750" y="699326"/>
            <a:ext cx="4018716" cy="4268925"/>
            <a:chOff x="382750" y="699326"/>
            <a:chExt cx="4018716" cy="4268925"/>
          </a:xfrm>
        </p:grpSpPr>
        <p:pic>
          <p:nvPicPr>
            <p:cNvPr id="72" name="Google Shape;72;p15"/>
            <p:cNvPicPr preferRelativeResize="0"/>
            <p:nvPr/>
          </p:nvPicPr>
          <p:blipFill>
            <a:blip r:embed="rId3">
              <a:alphaModFix/>
            </a:blip>
            <a:stretch>
              <a:fillRect/>
            </a:stretch>
          </p:blipFill>
          <p:spPr>
            <a:xfrm>
              <a:off x="382750" y="699326"/>
              <a:ext cx="4018716" cy="4268925"/>
            </a:xfrm>
            <a:prstGeom prst="rect">
              <a:avLst/>
            </a:prstGeom>
            <a:noFill/>
            <a:ln>
              <a:noFill/>
            </a:ln>
          </p:spPr>
        </p:pic>
        <p:sp>
          <p:nvSpPr>
            <p:cNvPr id="73" name="Google Shape;73;p15"/>
            <p:cNvSpPr/>
            <p:nvPr/>
          </p:nvSpPr>
          <p:spPr>
            <a:xfrm>
              <a:off x="751825" y="1392875"/>
              <a:ext cx="778800" cy="176100"/>
            </a:xfrm>
            <a:prstGeom prst="rect">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88038"/>
                </a:solidFill>
              </a:endParaRPr>
            </a:p>
          </p:txBody>
        </p:sp>
        <p:sp>
          <p:nvSpPr>
            <p:cNvPr id="74" name="Google Shape;74;p15"/>
            <p:cNvSpPr/>
            <p:nvPr/>
          </p:nvSpPr>
          <p:spPr>
            <a:xfrm>
              <a:off x="751825" y="2745738"/>
              <a:ext cx="237300" cy="176100"/>
            </a:xfrm>
            <a:prstGeom prst="rect">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5"/>
            <p:cNvSpPr/>
            <p:nvPr/>
          </p:nvSpPr>
          <p:spPr>
            <a:xfrm>
              <a:off x="751825" y="3243346"/>
              <a:ext cx="1952700" cy="176100"/>
            </a:xfrm>
            <a:prstGeom prst="rect">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5"/>
            <p:cNvSpPr/>
            <p:nvPr/>
          </p:nvSpPr>
          <p:spPr>
            <a:xfrm>
              <a:off x="751825" y="3419446"/>
              <a:ext cx="1245900" cy="176100"/>
            </a:xfrm>
            <a:prstGeom prst="rect">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p:nvPr/>
          </p:nvSpPr>
          <p:spPr>
            <a:xfrm>
              <a:off x="751825" y="3595546"/>
              <a:ext cx="843900" cy="176100"/>
            </a:xfrm>
            <a:prstGeom prst="rect">
              <a:avLst/>
            </a:prstGeom>
            <a:no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8" name="Google Shape;78;p15"/>
          <p:cNvSpPr txBox="1"/>
          <p:nvPr/>
        </p:nvSpPr>
        <p:spPr>
          <a:xfrm>
            <a:off x="4572000" y="623125"/>
            <a:ext cx="4168500" cy="452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zh-CN" sz="1200">
                <a:solidFill>
                  <a:schemeClr val="dk1"/>
                </a:solidFill>
              </a:rPr>
              <a:t>Dropped Features &amp; Reasons</a:t>
            </a:r>
            <a:r>
              <a:rPr lang="zh-CN" sz="1200">
                <a:solidFill>
                  <a:schemeClr val="dk1"/>
                </a:solidFill>
              </a:rPr>
              <a:t>:</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zh-CN" sz="1200">
                <a:solidFill>
                  <a:srgbClr val="188038"/>
                </a:solidFill>
                <a:latin typeface="Roboto Mono"/>
                <a:ea typeface="Roboto Mono"/>
                <a:cs typeface="Roboto Mono"/>
                <a:sym typeface="Roboto Mono"/>
              </a:rPr>
              <a:t>created_at</a:t>
            </a:r>
            <a:r>
              <a:rPr lang="zh-CN" sz="1200">
                <a:solidFill>
                  <a:schemeClr val="dk1"/>
                </a:solidFill>
              </a:rPr>
              <a:t>: Dropped because </a:t>
            </a:r>
            <a:r>
              <a:rPr lang="zh-CN" sz="1200">
                <a:solidFill>
                  <a:srgbClr val="188038"/>
                </a:solidFill>
                <a:latin typeface="Roboto Mono"/>
                <a:ea typeface="Roboto Mono"/>
                <a:cs typeface="Roboto Mono"/>
                <a:sym typeface="Roboto Mono"/>
              </a:rPr>
              <a:t>account_age_days</a:t>
            </a:r>
            <a:r>
              <a:rPr lang="zh-CN" sz="1200">
                <a:solidFill>
                  <a:schemeClr val="dk1"/>
                </a:solidFill>
              </a:rPr>
              <a:t> already captures the account's age, making this column redundant.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rgbClr val="188038"/>
                </a:solidFill>
                <a:latin typeface="Roboto Mono"/>
                <a:ea typeface="Roboto Mono"/>
                <a:cs typeface="Roboto Mono"/>
                <a:sym typeface="Roboto Mono"/>
              </a:rPr>
              <a:t>profile_background_image_url</a:t>
            </a:r>
            <a:r>
              <a:rPr lang="zh-CN" sz="1200">
                <a:solidFill>
                  <a:schemeClr val="dk1"/>
                </a:solidFill>
              </a:rPr>
              <a:t>: Dropped because </a:t>
            </a:r>
            <a:r>
              <a:rPr lang="zh-CN" sz="1200">
                <a:solidFill>
                  <a:srgbClr val="188038"/>
                </a:solidFill>
                <a:latin typeface="Roboto Mono"/>
                <a:ea typeface="Roboto Mono"/>
                <a:cs typeface="Roboto Mono"/>
                <a:sym typeface="Roboto Mono"/>
              </a:rPr>
              <a:t>default_profile</a:t>
            </a:r>
            <a:r>
              <a:rPr lang="zh-CN" sz="1200">
                <a:solidFill>
                  <a:schemeClr val="dk1"/>
                </a:solidFill>
              </a:rPr>
              <a:t> already indicates whether the account uses a default background, making the URL unnecessary.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rgbClr val="188038"/>
                </a:solidFill>
                <a:latin typeface="Roboto Mono"/>
                <a:ea typeface="Roboto Mono"/>
                <a:cs typeface="Roboto Mono"/>
                <a:sym typeface="Roboto Mono"/>
              </a:rPr>
              <a:t>profile_image_url</a:t>
            </a:r>
            <a:r>
              <a:rPr lang="zh-CN" sz="1200">
                <a:solidFill>
                  <a:schemeClr val="dk1"/>
                </a:solidFill>
              </a:rPr>
              <a:t>: Dropped because </a:t>
            </a:r>
            <a:r>
              <a:rPr lang="zh-CN" sz="1200">
                <a:solidFill>
                  <a:srgbClr val="188038"/>
                </a:solidFill>
                <a:latin typeface="Roboto Mono"/>
                <a:ea typeface="Roboto Mono"/>
                <a:cs typeface="Roboto Mono"/>
                <a:sym typeface="Roboto Mono"/>
              </a:rPr>
              <a:t>default_profile_image</a:t>
            </a:r>
            <a:r>
              <a:rPr lang="zh-CN" sz="1200">
                <a:solidFill>
                  <a:schemeClr val="dk1"/>
                </a:solidFill>
              </a:rPr>
              <a:t> already indicates whether the account uses a default profile image, so the URL adds no extra value.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rgbClr val="188038"/>
                </a:solidFill>
                <a:latin typeface="Roboto Mono"/>
                <a:ea typeface="Roboto Mono"/>
                <a:cs typeface="Roboto Mono"/>
                <a:sym typeface="Roboto Mono"/>
              </a:rPr>
              <a:t>id</a:t>
            </a:r>
            <a:r>
              <a:rPr lang="zh-CN" sz="1200">
                <a:solidFill>
                  <a:schemeClr val="dk1"/>
                </a:solidFill>
              </a:rPr>
              <a:t>: Dropped because it's just a unique identifier with no predictive value for classifying human vs. bot.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rgbClr val="188038"/>
                </a:solidFill>
                <a:latin typeface="Roboto Mono"/>
                <a:ea typeface="Roboto Mono"/>
                <a:cs typeface="Roboto Mono"/>
                <a:sym typeface="Roboto Mono"/>
              </a:rPr>
              <a:t>screen_name</a:t>
            </a:r>
            <a:r>
              <a:rPr lang="zh-CN" sz="1200">
                <a:solidFill>
                  <a:schemeClr val="dk1"/>
                </a:solidFill>
              </a:rPr>
              <a:t>: Dropped because it is a username chosen by the user and doesn't provide meaningful information for classification.</a:t>
            </a:r>
            <a:endParaRPr sz="1200">
              <a:solidFill>
                <a:schemeClr val="dk1"/>
              </a:solidFill>
            </a:endParaRPr>
          </a:p>
          <a:p>
            <a:pPr indent="0" lvl="0" marL="0" rtl="0" algn="l">
              <a:spcBef>
                <a:spcPts val="1200"/>
              </a:spcBef>
              <a:spcAft>
                <a:spcPts val="0"/>
              </a:spcAft>
              <a:buNone/>
            </a:pPr>
            <a:r>
              <a:rPr b="1" lang="zh-CN" sz="1200">
                <a:solidFill>
                  <a:schemeClr val="dk1"/>
                </a:solidFill>
              </a:rPr>
              <a:t>Results</a:t>
            </a:r>
            <a:r>
              <a:rPr b="1" lang="zh-CN" sz="1200">
                <a:solidFill>
                  <a:schemeClr val="dk1"/>
                </a:solidFill>
              </a:rPr>
              <a:t>: </a:t>
            </a:r>
            <a:r>
              <a:rPr b="1" lang="zh-CN" sz="1200">
                <a:solidFill>
                  <a:schemeClr val="accent5"/>
                </a:solidFill>
              </a:rPr>
              <a:t>(37438, 14)</a:t>
            </a:r>
            <a:endParaRPr b="1" sz="1200">
              <a:solidFill>
                <a:schemeClr val="accent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Data Cleaning: </a:t>
            </a:r>
            <a:r>
              <a:rPr lang="zh-CN" sz="2000"/>
              <a:t>Handle Missing Values</a:t>
            </a:r>
            <a:endParaRPr sz="2000"/>
          </a:p>
        </p:txBody>
      </p:sp>
      <p:graphicFrame>
        <p:nvGraphicFramePr>
          <p:cNvPr id="84" name="Google Shape;84;p16"/>
          <p:cNvGraphicFramePr/>
          <p:nvPr/>
        </p:nvGraphicFramePr>
        <p:xfrm>
          <a:off x="3104013" y="1049838"/>
          <a:ext cx="3000000" cy="3000000"/>
        </p:xfrm>
        <a:graphic>
          <a:graphicData uri="http://schemas.openxmlformats.org/drawingml/2006/table">
            <a:tbl>
              <a:tblPr>
                <a:noFill/>
                <a:tableStyleId>{7043144F-C837-4000-9067-418936439FD6}</a:tableStyleId>
              </a:tblPr>
              <a:tblGrid>
                <a:gridCol w="807675"/>
                <a:gridCol w="1668850"/>
              </a:tblGrid>
              <a:tr h="403400">
                <a:tc>
                  <a:txBody>
                    <a:bodyPr/>
                    <a:lstStyle/>
                    <a:p>
                      <a:pPr indent="0" lvl="0" marL="0" rtl="0" algn="ctr">
                        <a:spcBef>
                          <a:spcPts val="0"/>
                        </a:spcBef>
                        <a:spcAft>
                          <a:spcPts val="0"/>
                        </a:spcAft>
                        <a:buNone/>
                      </a:pPr>
                      <a:r>
                        <a:rPr lang="zh-CN" sz="1200"/>
                        <a:t>Features</a:t>
                      </a:r>
                      <a:endParaRPr sz="1200"/>
                    </a:p>
                  </a:txBody>
                  <a:tcPr marT="91425" marB="91425" marR="91425" marL="91425"/>
                </a:tc>
                <a:tc>
                  <a:txBody>
                    <a:bodyPr/>
                    <a:lstStyle/>
                    <a:p>
                      <a:pPr indent="0" lvl="0" marL="0" rtl="0" algn="ctr">
                        <a:spcBef>
                          <a:spcPts val="0"/>
                        </a:spcBef>
                        <a:spcAft>
                          <a:spcPts val="0"/>
                        </a:spcAft>
                        <a:buNone/>
                      </a:pPr>
                      <a:r>
                        <a:rPr lang="zh-CN" sz="1200"/>
                        <a:t>No. of Missing Values</a:t>
                      </a:r>
                      <a:endParaRPr sz="1200"/>
                    </a:p>
                  </a:txBody>
                  <a:tcPr marT="91425" marB="91425" marR="91425" marL="91425"/>
                </a:tc>
              </a:tr>
              <a:tr h="100000">
                <a:tc>
                  <a:txBody>
                    <a:bodyPr/>
                    <a:lstStyle/>
                    <a:p>
                      <a:pPr indent="0" lvl="0" marL="0" rtl="0" algn="ctr">
                        <a:spcBef>
                          <a:spcPts val="0"/>
                        </a:spcBef>
                        <a:spcAft>
                          <a:spcPts val="0"/>
                        </a:spcAft>
                        <a:buNone/>
                      </a:pPr>
                      <a:r>
                        <a:rPr lang="zh-CN" sz="1200"/>
                        <a:t>lang</a:t>
                      </a:r>
                      <a:endParaRPr sz="1200"/>
                    </a:p>
                  </a:txBody>
                  <a:tcPr marT="91425" marB="91425" marR="91425" marL="91425"/>
                </a:tc>
                <a:tc>
                  <a:txBody>
                    <a:bodyPr/>
                    <a:lstStyle/>
                    <a:p>
                      <a:pPr indent="0" lvl="0" marL="0" rtl="0" algn="ctr">
                        <a:spcBef>
                          <a:spcPts val="0"/>
                        </a:spcBef>
                        <a:spcAft>
                          <a:spcPts val="0"/>
                        </a:spcAft>
                        <a:buNone/>
                      </a:pPr>
                      <a:r>
                        <a:rPr lang="zh-CN" sz="1200"/>
                        <a:t>7957</a:t>
                      </a:r>
                      <a:endParaRPr sz="1200"/>
                    </a:p>
                  </a:txBody>
                  <a:tcPr marT="91425" marB="91425" marR="91425" marL="91425"/>
                </a:tc>
              </a:tr>
            </a:tbl>
          </a:graphicData>
        </a:graphic>
      </p:graphicFrame>
      <p:graphicFrame>
        <p:nvGraphicFramePr>
          <p:cNvPr id="85" name="Google Shape;85;p16"/>
          <p:cNvGraphicFramePr/>
          <p:nvPr/>
        </p:nvGraphicFramePr>
        <p:xfrm>
          <a:off x="5920075" y="1049850"/>
          <a:ext cx="3000000" cy="3000000"/>
        </p:xfrm>
        <a:graphic>
          <a:graphicData uri="http://schemas.openxmlformats.org/drawingml/2006/table">
            <a:tbl>
              <a:tblPr>
                <a:noFill/>
                <a:tableStyleId>{7043144F-C837-4000-9067-418936439FD6}</a:tableStyleId>
              </a:tblPr>
              <a:tblGrid>
                <a:gridCol w="1236500"/>
                <a:gridCol w="1699450"/>
              </a:tblGrid>
              <a:tr h="403400">
                <a:tc>
                  <a:txBody>
                    <a:bodyPr/>
                    <a:lstStyle/>
                    <a:p>
                      <a:pPr indent="0" lvl="0" marL="0" rtl="0" algn="ctr">
                        <a:spcBef>
                          <a:spcPts val="0"/>
                        </a:spcBef>
                        <a:spcAft>
                          <a:spcPts val="0"/>
                        </a:spcAft>
                        <a:buNone/>
                      </a:pPr>
                      <a:r>
                        <a:rPr lang="zh-CN" sz="1200"/>
                        <a:t>Features</a:t>
                      </a:r>
                      <a:endParaRPr sz="1200"/>
                    </a:p>
                  </a:txBody>
                  <a:tcPr marT="91425" marB="91425" marR="91425" marL="91425"/>
                </a:tc>
                <a:tc>
                  <a:txBody>
                    <a:bodyPr/>
                    <a:lstStyle/>
                    <a:p>
                      <a:pPr indent="0" lvl="0" marL="0" rtl="0" algn="ctr">
                        <a:spcBef>
                          <a:spcPts val="0"/>
                        </a:spcBef>
                        <a:spcAft>
                          <a:spcPts val="0"/>
                        </a:spcAft>
                        <a:buNone/>
                      </a:pPr>
                      <a:r>
                        <a:rPr lang="zh-CN" sz="1200"/>
                        <a:t>No. of Missing Values</a:t>
                      </a:r>
                      <a:endParaRPr sz="1200"/>
                    </a:p>
                  </a:txBody>
                  <a:tcPr marT="91425" marB="91425" marR="91425" marL="91425"/>
                </a:tc>
              </a:tr>
              <a:tr h="100000">
                <a:tc>
                  <a:txBody>
                    <a:bodyPr/>
                    <a:lstStyle/>
                    <a:p>
                      <a:pPr indent="0" lvl="0" marL="0" rtl="0" algn="ctr">
                        <a:spcBef>
                          <a:spcPts val="0"/>
                        </a:spcBef>
                        <a:spcAft>
                          <a:spcPts val="0"/>
                        </a:spcAft>
                        <a:buNone/>
                      </a:pPr>
                      <a:r>
                        <a:rPr lang="zh-CN" sz="1200"/>
                        <a:t>description</a:t>
                      </a:r>
                      <a:endParaRPr sz="1200"/>
                    </a:p>
                  </a:txBody>
                  <a:tcPr marT="91425" marB="91425" marR="91425" marL="91425"/>
                </a:tc>
                <a:tc>
                  <a:txBody>
                    <a:bodyPr/>
                    <a:lstStyle/>
                    <a:p>
                      <a:pPr indent="0" lvl="0" marL="0" rtl="0" algn="ctr">
                        <a:spcBef>
                          <a:spcPts val="0"/>
                        </a:spcBef>
                        <a:spcAft>
                          <a:spcPts val="0"/>
                        </a:spcAft>
                        <a:buNone/>
                      </a:pPr>
                      <a:r>
                        <a:rPr lang="zh-CN" sz="1200"/>
                        <a:t>7257</a:t>
                      </a:r>
                      <a:endParaRPr sz="1200"/>
                    </a:p>
                  </a:txBody>
                  <a:tcPr marT="91425" marB="91425" marR="91425" marL="91425"/>
                </a:tc>
              </a:tr>
            </a:tbl>
          </a:graphicData>
        </a:graphic>
      </p:graphicFrame>
      <p:graphicFrame>
        <p:nvGraphicFramePr>
          <p:cNvPr id="86" name="Google Shape;86;p16"/>
          <p:cNvGraphicFramePr/>
          <p:nvPr/>
        </p:nvGraphicFramePr>
        <p:xfrm>
          <a:off x="287975" y="1049838"/>
          <a:ext cx="3000000" cy="3000000"/>
        </p:xfrm>
        <a:graphic>
          <a:graphicData uri="http://schemas.openxmlformats.org/drawingml/2006/table">
            <a:tbl>
              <a:tblPr>
                <a:noFill/>
                <a:tableStyleId>{7043144F-C837-4000-9067-418936439FD6}</a:tableStyleId>
              </a:tblPr>
              <a:tblGrid>
                <a:gridCol w="807675"/>
                <a:gridCol w="1668850"/>
              </a:tblGrid>
              <a:tr h="403400">
                <a:tc>
                  <a:txBody>
                    <a:bodyPr/>
                    <a:lstStyle/>
                    <a:p>
                      <a:pPr indent="0" lvl="0" marL="0" rtl="0" algn="ctr">
                        <a:spcBef>
                          <a:spcPts val="0"/>
                        </a:spcBef>
                        <a:spcAft>
                          <a:spcPts val="0"/>
                        </a:spcAft>
                        <a:buNone/>
                      </a:pPr>
                      <a:r>
                        <a:rPr lang="zh-CN" sz="1200"/>
                        <a:t>Features</a:t>
                      </a:r>
                      <a:endParaRPr sz="1200"/>
                    </a:p>
                  </a:txBody>
                  <a:tcPr marT="91425" marB="91425" marR="91425" marL="91425"/>
                </a:tc>
                <a:tc>
                  <a:txBody>
                    <a:bodyPr/>
                    <a:lstStyle/>
                    <a:p>
                      <a:pPr indent="0" lvl="0" marL="0" rtl="0" algn="ctr">
                        <a:spcBef>
                          <a:spcPts val="0"/>
                        </a:spcBef>
                        <a:spcAft>
                          <a:spcPts val="0"/>
                        </a:spcAft>
                        <a:buNone/>
                      </a:pPr>
                      <a:r>
                        <a:rPr lang="zh-CN" sz="1200"/>
                        <a:t>No. of Missing Values</a:t>
                      </a:r>
                      <a:endParaRPr sz="1200"/>
                    </a:p>
                  </a:txBody>
                  <a:tcPr marT="91425" marB="91425" marR="91425" marL="91425"/>
                </a:tc>
              </a:tr>
              <a:tr h="100000">
                <a:tc>
                  <a:txBody>
                    <a:bodyPr/>
                    <a:lstStyle/>
                    <a:p>
                      <a:pPr indent="0" lvl="0" marL="0" rtl="0" algn="ctr">
                        <a:spcBef>
                          <a:spcPts val="0"/>
                        </a:spcBef>
                        <a:spcAft>
                          <a:spcPts val="0"/>
                        </a:spcAft>
                        <a:buNone/>
                      </a:pPr>
                      <a:r>
                        <a:rPr lang="zh-CN" sz="1200"/>
                        <a:t>location</a:t>
                      </a:r>
                      <a:endParaRPr sz="1200"/>
                    </a:p>
                  </a:txBody>
                  <a:tcPr marT="91425" marB="91425" marR="91425" marL="91425"/>
                </a:tc>
                <a:tc>
                  <a:txBody>
                    <a:bodyPr/>
                    <a:lstStyle/>
                    <a:p>
                      <a:pPr indent="0" lvl="0" marL="0" rtl="0" algn="ctr">
                        <a:spcBef>
                          <a:spcPts val="0"/>
                        </a:spcBef>
                        <a:spcAft>
                          <a:spcPts val="0"/>
                        </a:spcAft>
                        <a:buNone/>
                      </a:pPr>
                      <a:r>
                        <a:rPr lang="zh-CN" sz="1200"/>
                        <a:t>4</a:t>
                      </a:r>
                      <a:endParaRPr sz="1200"/>
                    </a:p>
                  </a:txBody>
                  <a:tcPr marT="91425" marB="91425" marR="91425" marL="91425"/>
                </a:tc>
              </a:tr>
            </a:tbl>
          </a:graphicData>
        </a:graphic>
      </p:graphicFrame>
      <p:sp>
        <p:nvSpPr>
          <p:cNvPr id="87" name="Google Shape;87;p16"/>
          <p:cNvSpPr txBox="1"/>
          <p:nvPr/>
        </p:nvSpPr>
        <p:spPr>
          <a:xfrm>
            <a:off x="287975" y="2187400"/>
            <a:ext cx="24765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200">
                <a:solidFill>
                  <a:schemeClr val="dk1"/>
                </a:solidFill>
              </a:rPr>
              <a:t>Action</a:t>
            </a:r>
            <a:r>
              <a:rPr lang="zh-CN" sz="1200">
                <a:solidFill>
                  <a:schemeClr val="dk1"/>
                </a:solidFill>
              </a:rPr>
              <a:t>: </a:t>
            </a:r>
            <a:r>
              <a:rPr lang="zh-CN" sz="1200">
                <a:solidFill>
                  <a:srgbClr val="188038"/>
                </a:solidFill>
              </a:rPr>
              <a:t>Removed rows</a:t>
            </a:r>
            <a:r>
              <a:rPr lang="zh-CN" sz="1200">
                <a:solidFill>
                  <a:schemeClr val="dk1"/>
                </a:solidFill>
              </a:rPr>
              <a:t> with missing values in the </a:t>
            </a:r>
            <a:r>
              <a:rPr lang="zh-CN" sz="1200">
                <a:solidFill>
                  <a:srgbClr val="188038"/>
                </a:solidFill>
                <a:latin typeface="Roboto Mono"/>
                <a:ea typeface="Roboto Mono"/>
                <a:cs typeface="Roboto Mono"/>
                <a:sym typeface="Roboto Mono"/>
              </a:rPr>
              <a:t>location</a:t>
            </a:r>
            <a:r>
              <a:rPr lang="zh-CN" sz="1200">
                <a:solidFill>
                  <a:schemeClr val="dk1"/>
                </a:solidFill>
              </a:rPr>
              <a:t> column.</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zh-CN" sz="1200">
                <a:solidFill>
                  <a:schemeClr val="dk1"/>
                </a:solidFill>
              </a:rPr>
              <a:t>Rationale</a:t>
            </a:r>
            <a:r>
              <a:rPr lang="zh-CN" sz="1200">
                <a:solidFill>
                  <a:schemeClr val="dk1"/>
                </a:solidFill>
              </a:rPr>
              <a:t>: Since only 4 entries had missing values, removing them has a minimal impact on the dataset, simplifying further analysis without significant loss.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zh-CN" sz="1200">
                <a:solidFill>
                  <a:schemeClr val="dk1"/>
                </a:solidFill>
              </a:rPr>
              <a:t>Results: </a:t>
            </a:r>
            <a:r>
              <a:rPr b="1" lang="zh-CN" sz="1200">
                <a:solidFill>
                  <a:schemeClr val="accent5"/>
                </a:solidFill>
              </a:rPr>
              <a:t>(37434, 14)</a:t>
            </a:r>
            <a:endParaRPr sz="1200">
              <a:solidFill>
                <a:schemeClr val="dk1"/>
              </a:solidFill>
            </a:endParaRPr>
          </a:p>
        </p:txBody>
      </p:sp>
      <p:sp>
        <p:nvSpPr>
          <p:cNvPr id="88" name="Google Shape;88;p16"/>
          <p:cNvSpPr txBox="1"/>
          <p:nvPr/>
        </p:nvSpPr>
        <p:spPr>
          <a:xfrm>
            <a:off x="3104025" y="2187400"/>
            <a:ext cx="24765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100">
                <a:solidFill>
                  <a:schemeClr val="dk1"/>
                </a:solidFill>
              </a:rPr>
              <a:t>Action</a:t>
            </a:r>
            <a:r>
              <a:rPr lang="zh-CN" sz="1100">
                <a:solidFill>
                  <a:schemeClr val="dk1"/>
                </a:solidFill>
              </a:rPr>
              <a:t>: Filled missing values in the </a:t>
            </a:r>
            <a:r>
              <a:rPr lang="zh-CN" sz="1100">
                <a:solidFill>
                  <a:srgbClr val="188038"/>
                </a:solidFill>
                <a:latin typeface="Roboto Mono"/>
                <a:ea typeface="Roboto Mono"/>
                <a:cs typeface="Roboto Mono"/>
                <a:sym typeface="Roboto Mono"/>
              </a:rPr>
              <a:t>lang</a:t>
            </a:r>
            <a:r>
              <a:rPr lang="zh-CN" sz="1100">
                <a:solidFill>
                  <a:schemeClr val="dk1"/>
                </a:solidFill>
              </a:rPr>
              <a:t> column with </a:t>
            </a:r>
            <a:r>
              <a:rPr lang="zh-CN" sz="1100">
                <a:solidFill>
                  <a:srgbClr val="188038"/>
                </a:solidFill>
              </a:rPr>
              <a:t>"Unknown"</a:t>
            </a:r>
            <a:r>
              <a:rPr lang="zh-C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zh-CN" sz="1100">
                <a:solidFill>
                  <a:schemeClr val="dk1"/>
                </a:solidFill>
              </a:rPr>
              <a:t>Rationale</a:t>
            </a:r>
            <a:r>
              <a:rPr lang="zh-CN" sz="1100">
                <a:solidFill>
                  <a:schemeClr val="dk1"/>
                </a:solidFill>
              </a:rPr>
              <a:t>: Analysis showed that accounts with missing language data had a slightly higher proportion of bots (56.5%). Assigning "Unknown" helps the model learn from this pattern, potentially improving classification performance by capturing unique behaviors.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zh-CN" sz="1200">
                <a:solidFill>
                  <a:schemeClr val="dk1"/>
                </a:solidFill>
              </a:rPr>
              <a:t>Results: </a:t>
            </a:r>
            <a:r>
              <a:rPr b="1" lang="zh-CN" sz="1200">
                <a:solidFill>
                  <a:schemeClr val="accent5"/>
                </a:solidFill>
              </a:rPr>
              <a:t>(37434, 14)</a:t>
            </a:r>
            <a:endParaRPr sz="1100">
              <a:solidFill>
                <a:schemeClr val="dk1"/>
              </a:solidFill>
            </a:endParaRPr>
          </a:p>
        </p:txBody>
      </p:sp>
      <p:sp>
        <p:nvSpPr>
          <p:cNvPr id="89" name="Google Shape;89;p16"/>
          <p:cNvSpPr txBox="1"/>
          <p:nvPr/>
        </p:nvSpPr>
        <p:spPr>
          <a:xfrm>
            <a:off x="5888050" y="2187400"/>
            <a:ext cx="2935800" cy="206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100">
                <a:solidFill>
                  <a:schemeClr val="dk1"/>
                </a:solidFill>
              </a:rPr>
              <a:t>Action</a:t>
            </a:r>
            <a:r>
              <a:rPr lang="zh-CN" sz="1100">
                <a:solidFill>
                  <a:schemeClr val="dk1"/>
                </a:solidFill>
              </a:rPr>
              <a:t>: Created a </a:t>
            </a:r>
            <a:r>
              <a:rPr lang="zh-CN" sz="1100">
                <a:solidFill>
                  <a:srgbClr val="188038"/>
                </a:solidFill>
              </a:rPr>
              <a:t>new boolean feature</a:t>
            </a:r>
            <a:r>
              <a:rPr lang="zh-CN" sz="1100">
                <a:solidFill>
                  <a:schemeClr val="dk1"/>
                </a:solidFill>
              </a:rPr>
              <a:t>, </a:t>
            </a:r>
            <a:r>
              <a:rPr lang="zh-CN" sz="1100">
                <a:solidFill>
                  <a:srgbClr val="188038"/>
                </a:solidFill>
                <a:latin typeface="Roboto Mono"/>
                <a:ea typeface="Roboto Mono"/>
                <a:cs typeface="Roboto Mono"/>
                <a:sym typeface="Roboto Mono"/>
              </a:rPr>
              <a:t>default_description</a:t>
            </a:r>
            <a:r>
              <a:rPr lang="zh-CN" sz="1100">
                <a:solidFill>
                  <a:schemeClr val="dk1"/>
                </a:solidFill>
              </a:rPr>
              <a:t>, to indicate whether an account has a description.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zh-CN" sz="1100">
                <a:solidFill>
                  <a:schemeClr val="dk1"/>
                </a:solidFill>
              </a:rPr>
              <a:t>Rationale</a:t>
            </a:r>
            <a:r>
              <a:rPr lang="zh-CN" sz="1100">
                <a:solidFill>
                  <a:schemeClr val="dk1"/>
                </a:solidFill>
              </a:rPr>
              <a:t>: Accounts without descriptions are more likely to be bots (59.9% bots vs 40.1% humans). This transformation helps simplify the dataset while retaining useful predictive information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zh-CN" sz="1200">
                <a:solidFill>
                  <a:schemeClr val="dk1"/>
                </a:solidFill>
              </a:rPr>
              <a:t>Results: </a:t>
            </a:r>
            <a:r>
              <a:rPr b="1" lang="zh-CN" sz="1200">
                <a:solidFill>
                  <a:schemeClr val="accent5"/>
                </a:solidFill>
              </a:rPr>
              <a:t>(37434, 14)</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Data Exploration</a:t>
            </a:r>
            <a:r>
              <a:rPr lang="zh-CN" sz="2000"/>
              <a:t>: Numerical Features</a:t>
            </a:r>
            <a:endParaRPr sz="2000"/>
          </a:p>
        </p:txBody>
      </p:sp>
      <p:pic>
        <p:nvPicPr>
          <p:cNvPr id="95" name="Google Shape;95;p17"/>
          <p:cNvPicPr preferRelativeResize="0"/>
          <p:nvPr/>
        </p:nvPicPr>
        <p:blipFill rotWithShape="1">
          <a:blip r:embed="rId3">
            <a:alphaModFix/>
          </a:blip>
          <a:srcRect b="0" l="0" r="0" t="8983"/>
          <a:stretch/>
        </p:blipFill>
        <p:spPr>
          <a:xfrm>
            <a:off x="172550" y="1064550"/>
            <a:ext cx="2793824" cy="4000499"/>
          </a:xfrm>
          <a:prstGeom prst="rect">
            <a:avLst/>
          </a:prstGeom>
          <a:noFill/>
          <a:ln>
            <a:noFill/>
          </a:ln>
        </p:spPr>
      </p:pic>
      <p:sp>
        <p:nvSpPr>
          <p:cNvPr id="96" name="Google Shape;96;p17"/>
          <p:cNvSpPr txBox="1"/>
          <p:nvPr/>
        </p:nvSpPr>
        <p:spPr>
          <a:xfrm>
            <a:off x="172550" y="666838"/>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zh-CN" sz="1200">
                <a:solidFill>
                  <a:schemeClr val="dk1"/>
                </a:solidFill>
              </a:rPr>
              <a:t>Overview of Numerical Features</a:t>
            </a:r>
            <a:endParaRPr b="1" sz="1200">
              <a:solidFill>
                <a:schemeClr val="dk1"/>
              </a:solidFill>
            </a:endParaRPr>
          </a:p>
        </p:txBody>
      </p:sp>
      <p:grpSp>
        <p:nvGrpSpPr>
          <p:cNvPr id="97" name="Google Shape;97;p17"/>
          <p:cNvGrpSpPr/>
          <p:nvPr/>
        </p:nvGrpSpPr>
        <p:grpSpPr>
          <a:xfrm>
            <a:off x="3068000" y="666850"/>
            <a:ext cx="3228450" cy="4480550"/>
            <a:chOff x="3068000" y="666850"/>
            <a:chExt cx="3228450" cy="4480550"/>
          </a:xfrm>
        </p:grpSpPr>
        <p:pic>
          <p:nvPicPr>
            <p:cNvPr id="98" name="Google Shape;98;p17"/>
            <p:cNvPicPr preferRelativeResize="0"/>
            <p:nvPr/>
          </p:nvPicPr>
          <p:blipFill>
            <a:blip r:embed="rId4">
              <a:alphaModFix/>
            </a:blip>
            <a:stretch>
              <a:fillRect/>
            </a:stretch>
          </p:blipFill>
          <p:spPr>
            <a:xfrm>
              <a:off x="3068000" y="1036146"/>
              <a:ext cx="3007999" cy="2679804"/>
            </a:xfrm>
            <a:prstGeom prst="rect">
              <a:avLst/>
            </a:prstGeom>
            <a:noFill/>
            <a:ln>
              <a:noFill/>
            </a:ln>
          </p:spPr>
        </p:pic>
        <p:sp>
          <p:nvSpPr>
            <p:cNvPr id="99" name="Google Shape;99;p17"/>
            <p:cNvSpPr txBox="1"/>
            <p:nvPr/>
          </p:nvSpPr>
          <p:spPr>
            <a:xfrm>
              <a:off x="3172550" y="666850"/>
              <a:ext cx="1794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zh-CN" sz="1200">
                  <a:solidFill>
                    <a:schemeClr val="dk1"/>
                  </a:solidFill>
                </a:rPr>
                <a:t>Correlation Analysis</a:t>
              </a:r>
              <a:endParaRPr b="1" sz="1200">
                <a:solidFill>
                  <a:schemeClr val="dk1"/>
                </a:solidFill>
              </a:endParaRPr>
            </a:p>
          </p:txBody>
        </p:sp>
        <p:sp>
          <p:nvSpPr>
            <p:cNvPr id="100" name="Google Shape;100;p17"/>
            <p:cNvSpPr txBox="1"/>
            <p:nvPr/>
          </p:nvSpPr>
          <p:spPr>
            <a:xfrm>
              <a:off x="3172550" y="3669900"/>
              <a:ext cx="3123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zh-CN" sz="1200">
                  <a:solidFill>
                    <a:schemeClr val="dk1"/>
                  </a:solidFill>
                </a:rPr>
                <a:t>Action</a:t>
              </a:r>
              <a:r>
                <a:rPr lang="zh-CN" sz="1200">
                  <a:solidFill>
                    <a:schemeClr val="dk1"/>
                  </a:solidFill>
                </a:rPr>
                <a:t>: </a:t>
              </a:r>
              <a:r>
                <a:rPr lang="zh-CN" sz="1200">
                  <a:solidFill>
                    <a:schemeClr val="dk1"/>
                  </a:solidFill>
                </a:rPr>
                <a:t>Drop</a:t>
              </a:r>
              <a:r>
                <a:rPr lang="zh-CN" sz="1200">
                  <a:solidFill>
                    <a:schemeClr val="dk1"/>
                  </a:solidFill>
                </a:rPr>
                <a:t> </a:t>
              </a:r>
              <a:r>
                <a:rPr lang="zh-CN" sz="1200">
                  <a:solidFill>
                    <a:srgbClr val="188038"/>
                  </a:solidFill>
                  <a:latin typeface="Roboto Mono"/>
                  <a:ea typeface="Roboto Mono"/>
                  <a:cs typeface="Roboto Mono"/>
                  <a:sym typeface="Roboto Mono"/>
                </a:rPr>
                <a:t>statuses_count</a:t>
              </a:r>
              <a:r>
                <a:rPr lang="zh-CN" sz="1200">
                  <a:solidFill>
                    <a:schemeClr val="dk1"/>
                  </a:solidFill>
                </a:rPr>
                <a:t> column.</a:t>
              </a:r>
              <a:endParaRPr sz="1200">
                <a:solidFill>
                  <a:schemeClr val="dk1"/>
                </a:solidFill>
              </a:endParaRPr>
            </a:p>
            <a:p>
              <a:pPr indent="0" lvl="0" marL="0" rtl="0" algn="l">
                <a:spcBef>
                  <a:spcPts val="0"/>
                </a:spcBef>
                <a:spcAft>
                  <a:spcPts val="0"/>
                </a:spcAft>
                <a:buNone/>
              </a:pPr>
              <a:r>
                <a:rPr b="1" lang="zh-CN" sz="1200">
                  <a:solidFill>
                    <a:schemeClr val="dk1"/>
                  </a:solidFill>
                </a:rPr>
                <a:t>Rationale</a:t>
              </a:r>
              <a:r>
                <a:rPr lang="zh-CN" sz="1200">
                  <a:solidFill>
                    <a:schemeClr val="dk1"/>
                  </a:solidFill>
                </a:rPr>
                <a:t>: Analysis showed that </a:t>
              </a:r>
              <a:r>
                <a:rPr lang="zh-CN" sz="1200">
                  <a:solidFill>
                    <a:srgbClr val="188038"/>
                  </a:solidFill>
                  <a:latin typeface="Roboto Mono"/>
                  <a:ea typeface="Roboto Mono"/>
                  <a:cs typeface="Roboto Mono"/>
                  <a:sym typeface="Roboto Mono"/>
                </a:rPr>
                <a:t>statuses_count</a:t>
              </a:r>
              <a:r>
                <a:rPr lang="zh-CN" sz="1200">
                  <a:solidFill>
                    <a:schemeClr val="dk1"/>
                  </a:solidFill>
                </a:rPr>
                <a:t> was highly correlated with </a:t>
              </a:r>
              <a:r>
                <a:rPr lang="zh-CN" sz="1200">
                  <a:solidFill>
                    <a:srgbClr val="188038"/>
                  </a:solidFill>
                  <a:latin typeface="Roboto Mono"/>
                  <a:ea typeface="Roboto Mono"/>
                  <a:cs typeface="Roboto Mono"/>
                  <a:sym typeface="Roboto Mono"/>
                </a:rPr>
                <a:t>average_tweets_per_day</a:t>
              </a:r>
              <a:r>
                <a:rPr lang="zh-CN" sz="1200">
                  <a:solidFill>
                    <a:schemeClr val="dk1"/>
                  </a:solidFill>
                </a:rPr>
                <a:t> and therefore was removed to avoid multicollinearity.</a:t>
              </a:r>
              <a:endParaRPr sz="1200">
                <a:solidFill>
                  <a:schemeClr val="dk1"/>
                </a:solidFill>
              </a:endParaRPr>
            </a:p>
            <a:p>
              <a:pPr indent="0" lvl="0" marL="0" rtl="0" algn="l">
                <a:spcBef>
                  <a:spcPts val="0"/>
                </a:spcBef>
                <a:spcAft>
                  <a:spcPts val="0"/>
                </a:spcAft>
                <a:buClr>
                  <a:schemeClr val="dk1"/>
                </a:buClr>
                <a:buSzPts val="1100"/>
                <a:buFont typeface="Arial"/>
                <a:buNone/>
              </a:pPr>
              <a:r>
                <a:rPr b="1" lang="zh-CN" sz="1200">
                  <a:solidFill>
                    <a:schemeClr val="dk1"/>
                  </a:solidFill>
                </a:rPr>
                <a:t>Results: </a:t>
              </a:r>
              <a:r>
                <a:rPr b="1" lang="zh-CN" sz="1200">
                  <a:solidFill>
                    <a:schemeClr val="accent5"/>
                  </a:solidFill>
                </a:rPr>
                <a:t>(37434, 13)</a:t>
              </a:r>
              <a:endParaRPr b="1" sz="1200">
                <a:solidFill>
                  <a:schemeClr val="dk1"/>
                </a:solidFill>
              </a:endParaRPr>
            </a:p>
          </p:txBody>
        </p:sp>
      </p:grpSp>
      <p:grpSp>
        <p:nvGrpSpPr>
          <p:cNvPr id="101" name="Google Shape;101;p17"/>
          <p:cNvGrpSpPr/>
          <p:nvPr/>
        </p:nvGrpSpPr>
        <p:grpSpPr>
          <a:xfrm>
            <a:off x="6177625" y="666850"/>
            <a:ext cx="2876700" cy="4514169"/>
            <a:chOff x="6177625" y="666850"/>
            <a:chExt cx="2876700" cy="4514169"/>
          </a:xfrm>
        </p:grpSpPr>
        <p:pic>
          <p:nvPicPr>
            <p:cNvPr id="102" name="Google Shape;102;p17"/>
            <p:cNvPicPr preferRelativeResize="0"/>
            <p:nvPr/>
          </p:nvPicPr>
          <p:blipFill rotWithShape="1">
            <a:blip r:embed="rId5">
              <a:alphaModFix/>
            </a:blip>
            <a:srcRect b="0" l="0" r="0" t="6305"/>
            <a:stretch/>
          </p:blipFill>
          <p:spPr>
            <a:xfrm>
              <a:off x="6177625" y="1036150"/>
              <a:ext cx="2793826" cy="2250762"/>
            </a:xfrm>
            <a:prstGeom prst="rect">
              <a:avLst/>
            </a:prstGeom>
            <a:noFill/>
            <a:ln>
              <a:noFill/>
            </a:ln>
          </p:spPr>
        </p:pic>
        <p:sp>
          <p:nvSpPr>
            <p:cNvPr id="103" name="Google Shape;103;p17"/>
            <p:cNvSpPr txBox="1"/>
            <p:nvPr/>
          </p:nvSpPr>
          <p:spPr>
            <a:xfrm>
              <a:off x="6177625" y="3333919"/>
              <a:ext cx="2876700" cy="184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zh-CN" sz="1200">
                  <a:solidFill>
                    <a:schemeClr val="dk1"/>
                  </a:solidFill>
                </a:rPr>
                <a:t>Action</a:t>
              </a:r>
              <a:r>
                <a:rPr lang="zh-CN" sz="1200">
                  <a:solidFill>
                    <a:schemeClr val="dk1"/>
                  </a:solidFill>
                </a:rPr>
                <a:t>: Include the </a:t>
              </a:r>
              <a:r>
                <a:rPr lang="zh-CN" sz="1200">
                  <a:solidFill>
                    <a:schemeClr val="dk1"/>
                  </a:solidFill>
                </a:rPr>
                <a:t>log-transformed versions (</a:t>
              </a:r>
              <a:r>
                <a:rPr lang="zh-CN" sz="1200">
                  <a:solidFill>
                    <a:srgbClr val="188038"/>
                  </a:solidFill>
                  <a:latin typeface="Roboto Mono"/>
                  <a:ea typeface="Roboto Mono"/>
                  <a:cs typeface="Roboto Mono"/>
                  <a:sym typeface="Roboto Mono"/>
                </a:rPr>
                <a:t>favourites_count</a:t>
              </a:r>
              <a:r>
                <a:rPr lang="zh-CN" sz="1200">
                  <a:solidFill>
                    <a:schemeClr val="dk1"/>
                  </a:solidFill>
                </a:rPr>
                <a:t>, </a:t>
              </a:r>
              <a:r>
                <a:rPr lang="zh-CN" sz="1200">
                  <a:solidFill>
                    <a:srgbClr val="188038"/>
                  </a:solidFill>
                  <a:latin typeface="Roboto Mono"/>
                  <a:ea typeface="Roboto Mono"/>
                  <a:cs typeface="Roboto Mono"/>
                  <a:sym typeface="Roboto Mono"/>
                </a:rPr>
                <a:t>followers_count</a:t>
              </a:r>
              <a:r>
                <a:rPr lang="zh-CN" sz="1200">
                  <a:solidFill>
                    <a:schemeClr val="dk1"/>
                  </a:solidFill>
                </a:rPr>
                <a:t>, </a:t>
              </a:r>
              <a:r>
                <a:rPr lang="zh-CN" sz="1200">
                  <a:solidFill>
                    <a:srgbClr val="188038"/>
                  </a:solidFill>
                  <a:latin typeface="Roboto Mono"/>
                  <a:ea typeface="Roboto Mono"/>
                  <a:cs typeface="Roboto Mono"/>
                  <a:sym typeface="Roboto Mono"/>
                </a:rPr>
                <a:t>friends_count</a:t>
              </a:r>
              <a:r>
                <a:rPr lang="zh-CN" sz="1200">
                  <a:solidFill>
                    <a:schemeClr val="dk1"/>
                  </a:solidFill>
                </a:rPr>
                <a:t>, </a:t>
              </a:r>
              <a:r>
                <a:rPr lang="zh-CN" sz="1200">
                  <a:solidFill>
                    <a:srgbClr val="188038"/>
                  </a:solidFill>
                  <a:latin typeface="Roboto Mono"/>
                  <a:ea typeface="Roboto Mono"/>
                  <a:cs typeface="Roboto Mono"/>
                  <a:sym typeface="Roboto Mono"/>
                </a:rPr>
                <a:t>average_tweets_per_day</a:t>
              </a:r>
              <a:r>
                <a:rPr lang="zh-CN" sz="1200">
                  <a:solidFill>
                    <a:schemeClr val="dk1"/>
                  </a:solidFill>
                </a:rPr>
                <a:t>). </a:t>
              </a:r>
              <a:endParaRPr sz="1200">
                <a:solidFill>
                  <a:schemeClr val="dk1"/>
                </a:solidFill>
              </a:endParaRPr>
            </a:p>
            <a:p>
              <a:pPr indent="0" lvl="0" marL="0" rtl="0" algn="l">
                <a:lnSpc>
                  <a:spcPct val="100000"/>
                </a:lnSpc>
                <a:spcBef>
                  <a:spcPts val="0"/>
                </a:spcBef>
                <a:spcAft>
                  <a:spcPts val="0"/>
                </a:spcAft>
                <a:buNone/>
              </a:pPr>
              <a:r>
                <a:rPr b="1" lang="zh-CN" sz="1200">
                  <a:solidFill>
                    <a:schemeClr val="dk1"/>
                  </a:solidFill>
                </a:rPr>
                <a:t>Rationale</a:t>
              </a:r>
              <a:r>
                <a:rPr lang="zh-CN" sz="1200">
                  <a:solidFill>
                    <a:schemeClr val="dk1"/>
                  </a:solidFill>
                </a:rPr>
                <a:t>: Analysis showed that histograms of the original features were skewed and t</a:t>
              </a:r>
              <a:r>
                <a:rPr lang="zh-CN" sz="1200">
                  <a:solidFill>
                    <a:schemeClr val="dk1"/>
                  </a:solidFill>
                </a:rPr>
                <a:t>he log transformation was applied to bring the distributions closer to normality.</a:t>
              </a:r>
              <a:endParaRPr sz="1200">
                <a:solidFill>
                  <a:schemeClr val="dk1"/>
                </a:solidFill>
              </a:endParaRPr>
            </a:p>
          </p:txBody>
        </p:sp>
        <p:sp>
          <p:nvSpPr>
            <p:cNvPr id="104" name="Google Shape;104;p17"/>
            <p:cNvSpPr txBox="1"/>
            <p:nvPr/>
          </p:nvSpPr>
          <p:spPr>
            <a:xfrm>
              <a:off x="6177625" y="666850"/>
              <a:ext cx="1794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zh-CN" sz="1200">
                  <a:solidFill>
                    <a:schemeClr val="dk1"/>
                  </a:solidFill>
                </a:rPr>
                <a:t>Handling</a:t>
              </a:r>
              <a:r>
                <a:rPr b="1" lang="zh-CN" sz="1200">
                  <a:solidFill>
                    <a:schemeClr val="dk1"/>
                  </a:solidFill>
                </a:rPr>
                <a:t> Skewness</a:t>
              </a:r>
              <a:endParaRPr b="1" sz="1200">
                <a:solidFill>
                  <a:schemeClr val="dk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Data Exploration: Boolean Features</a:t>
            </a:r>
            <a:endParaRPr sz="2000"/>
          </a:p>
        </p:txBody>
      </p:sp>
      <p:pic>
        <p:nvPicPr>
          <p:cNvPr id="110" name="Google Shape;110;p18"/>
          <p:cNvPicPr preferRelativeResize="0"/>
          <p:nvPr/>
        </p:nvPicPr>
        <p:blipFill>
          <a:blip r:embed="rId3">
            <a:alphaModFix/>
          </a:blip>
          <a:stretch>
            <a:fillRect/>
          </a:stretch>
        </p:blipFill>
        <p:spPr>
          <a:xfrm>
            <a:off x="4572012" y="1536960"/>
            <a:ext cx="3920726" cy="1694375"/>
          </a:xfrm>
          <a:prstGeom prst="rect">
            <a:avLst/>
          </a:prstGeom>
          <a:noFill/>
          <a:ln>
            <a:noFill/>
          </a:ln>
        </p:spPr>
      </p:pic>
      <p:grpSp>
        <p:nvGrpSpPr>
          <p:cNvPr id="111" name="Google Shape;111;p18"/>
          <p:cNvGrpSpPr/>
          <p:nvPr/>
        </p:nvGrpSpPr>
        <p:grpSpPr>
          <a:xfrm>
            <a:off x="248750" y="623125"/>
            <a:ext cx="3762337" cy="4466099"/>
            <a:chOff x="172550" y="623125"/>
            <a:chExt cx="3762337" cy="4466099"/>
          </a:xfrm>
        </p:grpSpPr>
        <p:pic>
          <p:nvPicPr>
            <p:cNvPr id="112" name="Google Shape;112;p18"/>
            <p:cNvPicPr preferRelativeResize="0"/>
            <p:nvPr/>
          </p:nvPicPr>
          <p:blipFill rotWithShape="1">
            <a:blip r:embed="rId4">
              <a:alphaModFix/>
            </a:blip>
            <a:srcRect b="0" l="0" r="0" t="4461"/>
            <a:stretch/>
          </p:blipFill>
          <p:spPr>
            <a:xfrm>
              <a:off x="172550" y="623125"/>
              <a:ext cx="3745125" cy="2262875"/>
            </a:xfrm>
            <a:prstGeom prst="rect">
              <a:avLst/>
            </a:prstGeom>
            <a:noFill/>
            <a:ln>
              <a:noFill/>
            </a:ln>
          </p:spPr>
        </p:pic>
        <p:pic>
          <p:nvPicPr>
            <p:cNvPr id="113" name="Google Shape;113;p18"/>
            <p:cNvPicPr preferRelativeResize="0"/>
            <p:nvPr/>
          </p:nvPicPr>
          <p:blipFill rotWithShape="1">
            <a:blip r:embed="rId5">
              <a:alphaModFix/>
            </a:blip>
            <a:srcRect b="31949" l="0" r="0" t="3779"/>
            <a:stretch/>
          </p:blipFill>
          <p:spPr>
            <a:xfrm>
              <a:off x="172550" y="2952275"/>
              <a:ext cx="2502726" cy="2116675"/>
            </a:xfrm>
            <a:prstGeom prst="rect">
              <a:avLst/>
            </a:prstGeom>
            <a:noFill/>
            <a:ln>
              <a:noFill/>
            </a:ln>
          </p:spPr>
        </p:pic>
        <p:pic>
          <p:nvPicPr>
            <p:cNvPr id="114" name="Google Shape;114;p18"/>
            <p:cNvPicPr preferRelativeResize="0"/>
            <p:nvPr/>
          </p:nvPicPr>
          <p:blipFill rotWithShape="1">
            <a:blip r:embed="rId5">
              <a:alphaModFix/>
            </a:blip>
            <a:srcRect b="0" l="0" r="48119" t="68729"/>
            <a:stretch/>
          </p:blipFill>
          <p:spPr>
            <a:xfrm>
              <a:off x="1420044" y="4059400"/>
              <a:ext cx="1298449" cy="1029824"/>
            </a:xfrm>
            <a:prstGeom prst="rect">
              <a:avLst/>
            </a:prstGeom>
            <a:noFill/>
            <a:ln>
              <a:noFill/>
            </a:ln>
          </p:spPr>
        </p:pic>
        <p:pic>
          <p:nvPicPr>
            <p:cNvPr id="115" name="Google Shape;115;p18"/>
            <p:cNvPicPr preferRelativeResize="0"/>
            <p:nvPr/>
          </p:nvPicPr>
          <p:blipFill rotWithShape="1">
            <a:blip r:embed="rId6">
              <a:alphaModFix/>
            </a:blip>
            <a:srcRect b="0" l="2733" r="0" t="0"/>
            <a:stretch/>
          </p:blipFill>
          <p:spPr>
            <a:xfrm>
              <a:off x="2671988" y="3009622"/>
              <a:ext cx="1262899" cy="1051700"/>
            </a:xfrm>
            <a:prstGeom prst="rect">
              <a:avLst/>
            </a:prstGeom>
            <a:noFill/>
            <a:ln>
              <a:noFill/>
            </a:ln>
          </p:spPr>
        </p:pic>
        <p:pic>
          <p:nvPicPr>
            <p:cNvPr id="116" name="Google Shape;116;p18"/>
            <p:cNvPicPr preferRelativeResize="0"/>
            <p:nvPr/>
          </p:nvPicPr>
          <p:blipFill>
            <a:blip r:embed="rId7">
              <a:alphaModFix/>
            </a:blip>
            <a:stretch>
              <a:fillRect/>
            </a:stretch>
          </p:blipFill>
          <p:spPr>
            <a:xfrm>
              <a:off x="172557" y="4059400"/>
              <a:ext cx="1262900" cy="1029818"/>
            </a:xfrm>
            <a:prstGeom prst="rect">
              <a:avLst/>
            </a:prstGeom>
            <a:noFill/>
            <a:ln>
              <a:noFill/>
            </a:ln>
          </p:spPr>
        </p:pic>
      </p:grpSp>
      <p:sp>
        <p:nvSpPr>
          <p:cNvPr id="117" name="Google Shape;117;p18"/>
          <p:cNvSpPr txBox="1"/>
          <p:nvPr/>
        </p:nvSpPr>
        <p:spPr>
          <a:xfrm>
            <a:off x="4354825" y="3208775"/>
            <a:ext cx="4411800" cy="18564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zh-CN" sz="1200">
                <a:solidFill>
                  <a:schemeClr val="dk1"/>
                </a:solidFill>
              </a:rPr>
              <a:t>Chi-Square Test</a:t>
            </a:r>
            <a:r>
              <a:rPr lang="zh-CN" sz="1200">
                <a:solidFill>
                  <a:schemeClr val="dk1"/>
                </a:solidFill>
              </a:rPr>
              <a:t>: Conducted chi-square tests on each boolean feature (</a:t>
            </a:r>
            <a:r>
              <a:rPr lang="zh-CN" sz="1200">
                <a:solidFill>
                  <a:srgbClr val="188038"/>
                </a:solidFill>
                <a:latin typeface="Roboto Mono"/>
                <a:ea typeface="Roboto Mono"/>
                <a:cs typeface="Roboto Mono"/>
                <a:sym typeface="Roboto Mono"/>
              </a:rPr>
              <a:t>default_description</a:t>
            </a:r>
            <a:r>
              <a:rPr lang="zh-CN" sz="1200">
                <a:solidFill>
                  <a:schemeClr val="dk1"/>
                </a:solidFill>
              </a:rPr>
              <a:t>, </a:t>
            </a:r>
            <a:r>
              <a:rPr lang="zh-CN" sz="1200">
                <a:solidFill>
                  <a:srgbClr val="188038"/>
                </a:solidFill>
                <a:latin typeface="Roboto Mono"/>
                <a:ea typeface="Roboto Mono"/>
                <a:cs typeface="Roboto Mono"/>
                <a:sym typeface="Roboto Mono"/>
              </a:rPr>
              <a:t>default_profile</a:t>
            </a:r>
            <a:r>
              <a:rPr lang="zh-CN" sz="1200">
                <a:solidFill>
                  <a:schemeClr val="dk1"/>
                </a:solidFill>
              </a:rPr>
              <a:t>, </a:t>
            </a:r>
            <a:r>
              <a:rPr lang="zh-CN" sz="1200">
                <a:solidFill>
                  <a:srgbClr val="188038"/>
                </a:solidFill>
                <a:latin typeface="Roboto Mono"/>
                <a:ea typeface="Roboto Mono"/>
                <a:cs typeface="Roboto Mono"/>
                <a:sym typeface="Roboto Mono"/>
              </a:rPr>
              <a:t>default_profile_image</a:t>
            </a:r>
            <a:r>
              <a:rPr lang="zh-CN" sz="1200">
                <a:solidFill>
                  <a:schemeClr val="dk1"/>
                </a:solidFill>
              </a:rPr>
              <a:t>, </a:t>
            </a:r>
            <a:r>
              <a:rPr lang="zh-CN" sz="1200">
                <a:solidFill>
                  <a:srgbClr val="188038"/>
                </a:solidFill>
                <a:latin typeface="Roboto Mono"/>
                <a:ea typeface="Roboto Mono"/>
                <a:cs typeface="Roboto Mono"/>
                <a:sym typeface="Roboto Mono"/>
              </a:rPr>
              <a:t>geo_enabled</a:t>
            </a:r>
            <a:r>
              <a:rPr lang="zh-CN" sz="1200">
                <a:solidFill>
                  <a:schemeClr val="dk1"/>
                </a:solidFill>
              </a:rPr>
              <a:t>, and </a:t>
            </a:r>
            <a:r>
              <a:rPr lang="zh-CN" sz="1200">
                <a:solidFill>
                  <a:srgbClr val="188038"/>
                </a:solidFill>
                <a:latin typeface="Roboto Mono"/>
                <a:ea typeface="Roboto Mono"/>
                <a:cs typeface="Roboto Mono"/>
                <a:sym typeface="Roboto Mono"/>
              </a:rPr>
              <a:t>verified</a:t>
            </a:r>
            <a:r>
              <a:rPr lang="zh-CN" sz="1200">
                <a:solidFill>
                  <a:schemeClr val="dk1"/>
                </a:solidFill>
              </a:rPr>
              <a:t>) to determine their statistical relationship with the target variable (</a:t>
            </a:r>
            <a:r>
              <a:rPr lang="zh-CN" sz="1200">
                <a:solidFill>
                  <a:srgbClr val="188038"/>
                </a:solidFill>
                <a:latin typeface="Roboto Mono"/>
                <a:ea typeface="Roboto Mono"/>
                <a:cs typeface="Roboto Mono"/>
                <a:sym typeface="Roboto Mono"/>
              </a:rPr>
              <a:t>account_type</a:t>
            </a:r>
            <a:r>
              <a:rPr lang="zh-CN" sz="1200">
                <a:solidFill>
                  <a:schemeClr val="dk1"/>
                </a:solidFill>
              </a:rPr>
              <a:t>). All p-values were very small (p &lt; 0.05), indicating significant relationships between these features and the target variable.</a:t>
            </a:r>
            <a:endParaRPr sz="1200">
              <a:solidFill>
                <a:schemeClr val="dk1"/>
              </a:solidFill>
            </a:endParaRPr>
          </a:p>
        </p:txBody>
      </p:sp>
      <p:sp>
        <p:nvSpPr>
          <p:cNvPr id="118" name="Google Shape;118;p18"/>
          <p:cNvSpPr txBox="1"/>
          <p:nvPr/>
        </p:nvSpPr>
        <p:spPr>
          <a:xfrm>
            <a:off x="4354825" y="678050"/>
            <a:ext cx="4560000" cy="7941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zh-CN" sz="1200">
                <a:solidFill>
                  <a:schemeClr val="dk1"/>
                </a:solidFill>
              </a:rPr>
              <a:t>Transformation to Numeric</a:t>
            </a:r>
            <a:r>
              <a:rPr lang="zh-CN" sz="1200">
                <a:solidFill>
                  <a:schemeClr val="dk1"/>
                </a:solidFill>
              </a:rPr>
              <a:t>: Converted boolean features to numerical values (0 and 1) to make them compatible with machine learning models.</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Data Exploration: Categorical Features</a:t>
            </a:r>
            <a:endParaRPr sz="2000"/>
          </a:p>
        </p:txBody>
      </p:sp>
      <p:sp>
        <p:nvSpPr>
          <p:cNvPr id="124" name="Google Shape;124;p19"/>
          <p:cNvSpPr txBox="1"/>
          <p:nvPr/>
        </p:nvSpPr>
        <p:spPr>
          <a:xfrm>
            <a:off x="2744525" y="699325"/>
            <a:ext cx="5923500" cy="16440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zh-CN" sz="1200">
                <a:solidFill>
                  <a:schemeClr val="dk1"/>
                </a:solidFill>
              </a:rPr>
              <a:t>Unique Category Count</a:t>
            </a:r>
            <a:r>
              <a:rPr lang="zh-CN" sz="1200">
                <a:solidFill>
                  <a:schemeClr val="dk1"/>
                </a:solidFill>
              </a:rPr>
              <a:t>: Show the number of unique categories for each feature. For </a:t>
            </a:r>
            <a:r>
              <a:rPr lang="zh-CN" sz="1200">
                <a:solidFill>
                  <a:srgbClr val="188038"/>
                </a:solidFill>
                <a:latin typeface="Roboto Mono"/>
                <a:ea typeface="Roboto Mono"/>
                <a:cs typeface="Roboto Mono"/>
                <a:sym typeface="Roboto Mono"/>
              </a:rPr>
              <a:t>lang</a:t>
            </a:r>
            <a:r>
              <a:rPr lang="zh-CN" sz="1200">
                <a:solidFill>
                  <a:schemeClr val="dk1"/>
                </a:solidFill>
              </a:rPr>
              <a:t>, there are 49 unique values, while </a:t>
            </a:r>
            <a:r>
              <a:rPr lang="zh-CN" sz="1200">
                <a:solidFill>
                  <a:srgbClr val="188038"/>
                </a:solidFill>
                <a:latin typeface="Roboto Mono"/>
                <a:ea typeface="Roboto Mono"/>
                <a:cs typeface="Roboto Mono"/>
                <a:sym typeface="Roboto Mono"/>
              </a:rPr>
              <a:t>location</a:t>
            </a:r>
            <a:r>
              <a:rPr lang="zh-CN" sz="1200">
                <a:solidFill>
                  <a:schemeClr val="dk1"/>
                </a:solidFill>
              </a:rPr>
              <a:t> has 12,049 unique values. Highlight the large variety in </a:t>
            </a:r>
            <a:r>
              <a:rPr lang="zh-CN" sz="1200">
                <a:solidFill>
                  <a:srgbClr val="188038"/>
                </a:solidFill>
                <a:latin typeface="Roboto Mono"/>
                <a:ea typeface="Roboto Mono"/>
                <a:cs typeface="Roboto Mono"/>
                <a:sym typeface="Roboto Mono"/>
              </a:rPr>
              <a:t>location</a:t>
            </a:r>
            <a:r>
              <a:rPr lang="zh-CN" sz="1200">
                <a:solidFill>
                  <a:schemeClr val="dk1"/>
                </a:solidFill>
              </a:rPr>
              <a:t> compared to </a:t>
            </a:r>
            <a:r>
              <a:rPr lang="zh-CN" sz="1200">
                <a:solidFill>
                  <a:srgbClr val="188038"/>
                </a:solidFill>
                <a:latin typeface="Roboto Mono"/>
                <a:ea typeface="Roboto Mono"/>
                <a:cs typeface="Roboto Mono"/>
                <a:sym typeface="Roboto Mono"/>
              </a:rPr>
              <a:t>lang</a:t>
            </a:r>
            <a:r>
              <a:rPr lang="zh-CN"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chemeClr val="dk1"/>
                </a:solidFill>
              </a:rPr>
              <a:t>Handling Rare Categories</a:t>
            </a:r>
            <a:r>
              <a:rPr lang="zh-CN" sz="1200">
                <a:solidFill>
                  <a:schemeClr val="dk1"/>
                </a:solidFill>
              </a:rPr>
              <a:t>: Group rare values in the </a:t>
            </a:r>
            <a:r>
              <a:rPr lang="zh-CN" sz="1200">
                <a:solidFill>
                  <a:srgbClr val="188038"/>
                </a:solidFill>
                <a:latin typeface="Roboto Mono"/>
                <a:ea typeface="Roboto Mono"/>
                <a:cs typeface="Roboto Mono"/>
                <a:sym typeface="Roboto Mono"/>
              </a:rPr>
              <a:t>location</a:t>
            </a:r>
            <a:r>
              <a:rPr lang="zh-CN" sz="1200">
                <a:solidFill>
                  <a:schemeClr val="dk1"/>
                </a:solidFill>
              </a:rPr>
              <a:t> feature into a category labeled "Other" to prevent overfitting during target encoding. This helps reduce noise from categories with too few instances and makes the model more generalizable.</a:t>
            </a:r>
            <a:endParaRPr sz="1200">
              <a:solidFill>
                <a:schemeClr val="dk1"/>
              </a:solidFill>
            </a:endParaRPr>
          </a:p>
        </p:txBody>
      </p:sp>
      <p:graphicFrame>
        <p:nvGraphicFramePr>
          <p:cNvPr id="125" name="Google Shape;125;p19"/>
          <p:cNvGraphicFramePr/>
          <p:nvPr/>
        </p:nvGraphicFramePr>
        <p:xfrm>
          <a:off x="241675" y="818225"/>
          <a:ext cx="3000000" cy="3000000"/>
        </p:xfrm>
        <a:graphic>
          <a:graphicData uri="http://schemas.openxmlformats.org/drawingml/2006/table">
            <a:tbl>
              <a:tblPr>
                <a:noFill/>
                <a:tableStyleId>{7043144F-C837-4000-9067-418936439FD6}</a:tableStyleId>
              </a:tblPr>
              <a:tblGrid>
                <a:gridCol w="944125"/>
                <a:gridCol w="1417975"/>
              </a:tblGrid>
              <a:tr h="381000">
                <a:tc>
                  <a:txBody>
                    <a:bodyPr/>
                    <a:lstStyle/>
                    <a:p>
                      <a:pPr indent="0" lvl="0" marL="0" rtl="0" algn="ctr">
                        <a:spcBef>
                          <a:spcPts val="0"/>
                        </a:spcBef>
                        <a:spcAft>
                          <a:spcPts val="0"/>
                        </a:spcAft>
                        <a:buNone/>
                      </a:pPr>
                      <a:r>
                        <a:rPr lang="zh-CN" sz="1200"/>
                        <a:t>Features</a:t>
                      </a:r>
                      <a:endParaRPr sz="1200"/>
                    </a:p>
                  </a:txBody>
                  <a:tcPr marT="91425" marB="91425" marR="91425" marL="91425"/>
                </a:tc>
                <a:tc>
                  <a:txBody>
                    <a:bodyPr/>
                    <a:lstStyle/>
                    <a:p>
                      <a:pPr indent="0" lvl="0" marL="0" rtl="0" algn="ctr">
                        <a:spcBef>
                          <a:spcPts val="0"/>
                        </a:spcBef>
                        <a:spcAft>
                          <a:spcPts val="0"/>
                        </a:spcAft>
                        <a:buNone/>
                      </a:pPr>
                      <a:r>
                        <a:rPr lang="zh-CN" sz="1200"/>
                        <a:t>Unique Count</a:t>
                      </a:r>
                      <a:endParaRPr sz="1200"/>
                    </a:p>
                  </a:txBody>
                  <a:tcPr marT="91425" marB="91425" marR="91425" marL="91425"/>
                </a:tc>
              </a:tr>
              <a:tr h="381000">
                <a:tc>
                  <a:txBody>
                    <a:bodyPr/>
                    <a:lstStyle/>
                    <a:p>
                      <a:pPr indent="0" lvl="0" marL="0" rtl="0" algn="ctr">
                        <a:spcBef>
                          <a:spcPts val="0"/>
                        </a:spcBef>
                        <a:spcAft>
                          <a:spcPts val="0"/>
                        </a:spcAft>
                        <a:buNone/>
                      </a:pPr>
                      <a:r>
                        <a:rPr lang="zh-CN" sz="1200"/>
                        <a:t>lang</a:t>
                      </a:r>
                      <a:endParaRPr sz="1200"/>
                    </a:p>
                  </a:txBody>
                  <a:tcPr marT="91425" marB="91425" marR="91425" marL="91425"/>
                </a:tc>
                <a:tc>
                  <a:txBody>
                    <a:bodyPr/>
                    <a:lstStyle/>
                    <a:p>
                      <a:pPr indent="0" lvl="0" marL="0" rtl="0" algn="ctr">
                        <a:spcBef>
                          <a:spcPts val="0"/>
                        </a:spcBef>
                        <a:spcAft>
                          <a:spcPts val="0"/>
                        </a:spcAft>
                        <a:buNone/>
                      </a:pPr>
                      <a:r>
                        <a:rPr lang="zh-CN" sz="1200"/>
                        <a:t>49</a:t>
                      </a:r>
                      <a:endParaRPr sz="1200"/>
                    </a:p>
                  </a:txBody>
                  <a:tcPr marT="91425" marB="91425" marR="91425" marL="91425"/>
                </a:tc>
              </a:tr>
              <a:tr h="381000">
                <a:tc>
                  <a:txBody>
                    <a:bodyPr/>
                    <a:lstStyle/>
                    <a:p>
                      <a:pPr indent="0" lvl="0" marL="0" rtl="0" algn="ctr">
                        <a:spcBef>
                          <a:spcPts val="0"/>
                        </a:spcBef>
                        <a:spcAft>
                          <a:spcPts val="0"/>
                        </a:spcAft>
                        <a:buNone/>
                      </a:pPr>
                      <a:r>
                        <a:rPr lang="zh-CN" sz="1200"/>
                        <a:t>location</a:t>
                      </a:r>
                      <a:endParaRPr sz="1200"/>
                    </a:p>
                  </a:txBody>
                  <a:tcPr marT="91425" marB="91425" marR="91425" marL="91425"/>
                </a:tc>
                <a:tc>
                  <a:txBody>
                    <a:bodyPr/>
                    <a:lstStyle/>
                    <a:p>
                      <a:pPr indent="0" lvl="0" marL="0" rtl="0" algn="ctr">
                        <a:spcBef>
                          <a:spcPts val="0"/>
                        </a:spcBef>
                        <a:spcAft>
                          <a:spcPts val="0"/>
                        </a:spcAft>
                        <a:buNone/>
                      </a:pPr>
                      <a:r>
                        <a:rPr lang="zh-CN" sz="1200"/>
                        <a:t>12049</a:t>
                      </a:r>
                      <a:endParaRPr sz="1200"/>
                    </a:p>
                  </a:txBody>
                  <a:tcPr marT="91425" marB="91425" marR="91425" marL="91425"/>
                </a:tc>
              </a:tr>
            </a:tbl>
          </a:graphicData>
        </a:graphic>
      </p:graphicFrame>
      <p:sp>
        <p:nvSpPr>
          <p:cNvPr id="126" name="Google Shape;126;p19"/>
          <p:cNvSpPr txBox="1"/>
          <p:nvPr/>
        </p:nvSpPr>
        <p:spPr>
          <a:xfrm>
            <a:off x="241675" y="198097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zh-CN" sz="1200">
                <a:solidFill>
                  <a:srgbClr val="1F1F1F"/>
                </a:solidFill>
                <a:highlight>
                  <a:srgbClr val="FFFFFF"/>
                </a:highlight>
              </a:rPr>
              <a:t>Total </a:t>
            </a:r>
            <a:r>
              <a:rPr lang="zh-CN" sz="1200">
                <a:solidFill>
                  <a:srgbClr val="1F1F1F"/>
                </a:solidFill>
                <a:highlight>
                  <a:srgbClr val="FFFFFF"/>
                </a:highlight>
              </a:rPr>
              <a:t>13</a:t>
            </a:r>
            <a:r>
              <a:rPr lang="zh-CN" sz="1200">
                <a:solidFill>
                  <a:srgbClr val="1F1F1F"/>
                </a:solidFill>
                <a:highlight>
                  <a:srgbClr val="FFFFFF"/>
                </a:highlight>
              </a:rPr>
              <a:t>179/37434 rare locations</a:t>
            </a:r>
            <a:endParaRPr sz="1200">
              <a:solidFill>
                <a:srgbClr val="1F1F1F"/>
              </a:solidFill>
              <a:highlight>
                <a:srgbClr val="FFFFFF"/>
              </a:highlight>
            </a:endParaRPr>
          </a:p>
        </p:txBody>
      </p:sp>
      <p:sp>
        <p:nvSpPr>
          <p:cNvPr id="127" name="Google Shape;127;p19"/>
          <p:cNvSpPr txBox="1"/>
          <p:nvPr>
            <p:ph type="ctrTitle"/>
          </p:nvPr>
        </p:nvSpPr>
        <p:spPr>
          <a:xfrm>
            <a:off x="241675" y="2641050"/>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Train-Test Split: Stratified</a:t>
            </a:r>
            <a:endParaRPr sz="2000"/>
          </a:p>
        </p:txBody>
      </p:sp>
      <p:graphicFrame>
        <p:nvGraphicFramePr>
          <p:cNvPr id="128" name="Google Shape;128;p19"/>
          <p:cNvGraphicFramePr/>
          <p:nvPr/>
        </p:nvGraphicFramePr>
        <p:xfrm>
          <a:off x="952500" y="3287797"/>
          <a:ext cx="3000000" cy="3000000"/>
        </p:xfrm>
        <a:graphic>
          <a:graphicData uri="http://schemas.openxmlformats.org/drawingml/2006/table">
            <a:tbl>
              <a:tblPr>
                <a:noFill/>
                <a:tableStyleId>{7043144F-C837-4000-9067-418936439FD6}</a:tableStyleId>
              </a:tblPr>
              <a:tblGrid>
                <a:gridCol w="2413000"/>
                <a:gridCol w="2413000"/>
                <a:gridCol w="2413000"/>
              </a:tblGrid>
              <a:tr h="381000">
                <a:tc>
                  <a:txBody>
                    <a:bodyPr/>
                    <a:lstStyle/>
                    <a:p>
                      <a:pPr indent="0" lvl="0" marL="0" rtl="0" algn="ctr">
                        <a:spcBef>
                          <a:spcPts val="0"/>
                        </a:spcBef>
                        <a:spcAft>
                          <a:spcPts val="0"/>
                        </a:spcAft>
                        <a:buNone/>
                      </a:pPr>
                      <a:r>
                        <a:rPr b="1" lang="zh-CN" sz="1200"/>
                        <a:t>Dataset</a:t>
                      </a:r>
                      <a:endParaRPr b="1" sz="1200"/>
                    </a:p>
                  </a:txBody>
                  <a:tcPr marT="91425" marB="91425" marR="91425" marL="91425"/>
                </a:tc>
                <a:tc>
                  <a:txBody>
                    <a:bodyPr/>
                    <a:lstStyle/>
                    <a:p>
                      <a:pPr indent="0" lvl="0" marL="0" rtl="0" algn="ctr">
                        <a:spcBef>
                          <a:spcPts val="0"/>
                        </a:spcBef>
                        <a:spcAft>
                          <a:spcPts val="0"/>
                        </a:spcAft>
                        <a:buNone/>
                      </a:pPr>
                      <a:r>
                        <a:rPr b="1" lang="zh-CN" sz="1200"/>
                        <a:t>Shape of X</a:t>
                      </a:r>
                      <a:endParaRPr b="1" sz="1200"/>
                    </a:p>
                  </a:txBody>
                  <a:tcPr marT="91425" marB="91425" marR="91425" marL="91425"/>
                </a:tc>
                <a:tc>
                  <a:txBody>
                    <a:bodyPr/>
                    <a:lstStyle/>
                    <a:p>
                      <a:pPr indent="0" lvl="0" marL="0" rtl="0" algn="ctr">
                        <a:spcBef>
                          <a:spcPts val="0"/>
                        </a:spcBef>
                        <a:spcAft>
                          <a:spcPts val="0"/>
                        </a:spcAft>
                        <a:buNone/>
                      </a:pPr>
                      <a:r>
                        <a:rPr b="1" lang="zh-CN" sz="1200"/>
                        <a:t>Shape of y</a:t>
                      </a:r>
                      <a:endParaRPr b="1" sz="1200"/>
                    </a:p>
                  </a:txBody>
                  <a:tcPr marT="91425" marB="91425" marR="91425" marL="91425"/>
                </a:tc>
              </a:tr>
              <a:tr h="381000">
                <a:tc>
                  <a:txBody>
                    <a:bodyPr/>
                    <a:lstStyle/>
                    <a:p>
                      <a:pPr indent="0" lvl="0" marL="0" rtl="0" algn="ctr">
                        <a:spcBef>
                          <a:spcPts val="0"/>
                        </a:spcBef>
                        <a:spcAft>
                          <a:spcPts val="0"/>
                        </a:spcAft>
                        <a:buNone/>
                      </a:pPr>
                      <a:r>
                        <a:rPr lang="zh-CN" sz="1200"/>
                        <a:t>Training Set</a:t>
                      </a:r>
                      <a:endParaRPr sz="1200"/>
                    </a:p>
                  </a:txBody>
                  <a:tcPr marT="91425" marB="91425" marR="91425" marL="91425"/>
                </a:tc>
                <a:tc>
                  <a:txBody>
                    <a:bodyPr/>
                    <a:lstStyle/>
                    <a:p>
                      <a:pPr indent="0" lvl="0" marL="0" rtl="0" algn="ctr">
                        <a:lnSpc>
                          <a:spcPct val="115000"/>
                        </a:lnSpc>
                        <a:spcBef>
                          <a:spcPts val="1200"/>
                        </a:spcBef>
                        <a:spcAft>
                          <a:spcPts val="1200"/>
                        </a:spcAft>
                        <a:buNone/>
                      </a:pPr>
                      <a:r>
                        <a:rPr b="1" lang="zh-CN" sz="1200">
                          <a:solidFill>
                            <a:srgbClr val="188038"/>
                          </a:solidFill>
                        </a:rPr>
                        <a:t>(22,460, 12)</a:t>
                      </a:r>
                      <a:endParaRPr b="1" sz="1200">
                        <a:solidFill>
                          <a:srgbClr val="188038"/>
                        </a:solidFill>
                      </a:endParaRPr>
                    </a:p>
                  </a:txBody>
                  <a:tcPr marT="91425" marB="91425" marR="91425" marL="91425"/>
                </a:tc>
                <a:tc>
                  <a:txBody>
                    <a:bodyPr/>
                    <a:lstStyle/>
                    <a:p>
                      <a:pPr indent="0" lvl="0" marL="0" rtl="0" algn="ctr">
                        <a:lnSpc>
                          <a:spcPct val="115000"/>
                        </a:lnSpc>
                        <a:spcBef>
                          <a:spcPts val="1200"/>
                        </a:spcBef>
                        <a:spcAft>
                          <a:spcPts val="1200"/>
                        </a:spcAft>
                        <a:buNone/>
                      </a:pPr>
                      <a:r>
                        <a:rPr b="1" lang="zh-CN" sz="1200">
                          <a:solidFill>
                            <a:srgbClr val="188038"/>
                          </a:solidFill>
                        </a:rPr>
                        <a:t>(22,460,)</a:t>
                      </a:r>
                      <a:endParaRPr b="1" sz="1200">
                        <a:solidFill>
                          <a:srgbClr val="188038"/>
                        </a:solidFill>
                      </a:endParaRPr>
                    </a:p>
                  </a:txBody>
                  <a:tcPr marT="91425" marB="91425" marR="91425" marL="91425"/>
                </a:tc>
              </a:tr>
              <a:tr h="381000">
                <a:tc>
                  <a:txBody>
                    <a:bodyPr/>
                    <a:lstStyle/>
                    <a:p>
                      <a:pPr indent="0" lvl="0" marL="0" rtl="0" algn="ctr">
                        <a:spcBef>
                          <a:spcPts val="0"/>
                        </a:spcBef>
                        <a:spcAft>
                          <a:spcPts val="0"/>
                        </a:spcAft>
                        <a:buNone/>
                      </a:pPr>
                      <a:r>
                        <a:rPr lang="zh-CN" sz="1200"/>
                        <a:t>Validation Set</a:t>
                      </a:r>
                      <a:endParaRPr sz="1200"/>
                    </a:p>
                  </a:txBody>
                  <a:tcPr marT="91425" marB="91425" marR="91425" marL="91425"/>
                </a:tc>
                <a:tc>
                  <a:txBody>
                    <a:bodyPr/>
                    <a:lstStyle/>
                    <a:p>
                      <a:pPr indent="0" lvl="0" marL="0" rtl="0" algn="ctr">
                        <a:lnSpc>
                          <a:spcPct val="115000"/>
                        </a:lnSpc>
                        <a:spcBef>
                          <a:spcPts val="1200"/>
                        </a:spcBef>
                        <a:spcAft>
                          <a:spcPts val="1200"/>
                        </a:spcAft>
                        <a:buNone/>
                      </a:pPr>
                      <a:r>
                        <a:rPr b="1" lang="zh-CN" sz="1200">
                          <a:solidFill>
                            <a:srgbClr val="188038"/>
                          </a:solidFill>
                        </a:rPr>
                        <a:t>(7,487, 12)</a:t>
                      </a:r>
                      <a:endParaRPr b="1" sz="1200">
                        <a:solidFill>
                          <a:srgbClr val="188038"/>
                        </a:solidFill>
                      </a:endParaRPr>
                    </a:p>
                  </a:txBody>
                  <a:tcPr marT="91425" marB="91425" marR="91425" marL="91425"/>
                </a:tc>
                <a:tc>
                  <a:txBody>
                    <a:bodyPr/>
                    <a:lstStyle/>
                    <a:p>
                      <a:pPr indent="0" lvl="0" marL="0" rtl="0" algn="ctr">
                        <a:lnSpc>
                          <a:spcPct val="115000"/>
                        </a:lnSpc>
                        <a:spcBef>
                          <a:spcPts val="1200"/>
                        </a:spcBef>
                        <a:spcAft>
                          <a:spcPts val="1200"/>
                        </a:spcAft>
                        <a:buNone/>
                      </a:pPr>
                      <a:r>
                        <a:rPr b="1" lang="zh-CN" sz="1200">
                          <a:solidFill>
                            <a:srgbClr val="188038"/>
                          </a:solidFill>
                        </a:rPr>
                        <a:t>(7,487,)</a:t>
                      </a:r>
                      <a:endParaRPr b="1" sz="1200">
                        <a:solidFill>
                          <a:srgbClr val="188038"/>
                        </a:solidFill>
                      </a:endParaRPr>
                    </a:p>
                  </a:txBody>
                  <a:tcPr marT="91425" marB="91425" marR="91425" marL="91425"/>
                </a:tc>
              </a:tr>
              <a:tr h="381000">
                <a:tc>
                  <a:txBody>
                    <a:bodyPr/>
                    <a:lstStyle/>
                    <a:p>
                      <a:pPr indent="0" lvl="0" marL="0" rtl="0" algn="ctr">
                        <a:spcBef>
                          <a:spcPts val="0"/>
                        </a:spcBef>
                        <a:spcAft>
                          <a:spcPts val="0"/>
                        </a:spcAft>
                        <a:buNone/>
                      </a:pPr>
                      <a:r>
                        <a:rPr lang="zh-CN" sz="1200"/>
                        <a:t>Test Set</a:t>
                      </a:r>
                      <a:endParaRPr sz="1200"/>
                    </a:p>
                  </a:txBody>
                  <a:tcPr marT="91425" marB="91425" marR="91425" marL="91425"/>
                </a:tc>
                <a:tc>
                  <a:txBody>
                    <a:bodyPr/>
                    <a:lstStyle/>
                    <a:p>
                      <a:pPr indent="0" lvl="0" marL="0" rtl="0" algn="ctr">
                        <a:lnSpc>
                          <a:spcPct val="115000"/>
                        </a:lnSpc>
                        <a:spcBef>
                          <a:spcPts val="1200"/>
                        </a:spcBef>
                        <a:spcAft>
                          <a:spcPts val="1200"/>
                        </a:spcAft>
                        <a:buNone/>
                      </a:pPr>
                      <a:r>
                        <a:rPr b="1" lang="zh-CN" sz="1200">
                          <a:solidFill>
                            <a:srgbClr val="188038"/>
                          </a:solidFill>
                        </a:rPr>
                        <a:t>(7,487, 12)</a:t>
                      </a:r>
                      <a:endParaRPr b="1" sz="1200">
                        <a:solidFill>
                          <a:srgbClr val="188038"/>
                        </a:solidFill>
                      </a:endParaRPr>
                    </a:p>
                  </a:txBody>
                  <a:tcPr marT="91425" marB="91425" marR="91425" marL="91425"/>
                </a:tc>
                <a:tc>
                  <a:txBody>
                    <a:bodyPr/>
                    <a:lstStyle/>
                    <a:p>
                      <a:pPr indent="0" lvl="0" marL="0" rtl="0" algn="ctr">
                        <a:lnSpc>
                          <a:spcPct val="115000"/>
                        </a:lnSpc>
                        <a:spcBef>
                          <a:spcPts val="1200"/>
                        </a:spcBef>
                        <a:spcAft>
                          <a:spcPts val="1200"/>
                        </a:spcAft>
                        <a:buNone/>
                      </a:pPr>
                      <a:r>
                        <a:rPr b="1" lang="zh-CN" sz="1200">
                          <a:solidFill>
                            <a:srgbClr val="188038"/>
                          </a:solidFill>
                        </a:rPr>
                        <a:t>(7,487,)</a:t>
                      </a:r>
                      <a:endParaRPr b="1" sz="1200">
                        <a:solidFill>
                          <a:srgbClr val="188038"/>
                        </a:solidFill>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Data Preprocessing: Scaling &amp; Target Encoding</a:t>
            </a:r>
            <a:endParaRPr sz="2000"/>
          </a:p>
        </p:txBody>
      </p:sp>
      <p:sp>
        <p:nvSpPr>
          <p:cNvPr id="134" name="Google Shape;134;p20"/>
          <p:cNvSpPr txBox="1"/>
          <p:nvPr/>
        </p:nvSpPr>
        <p:spPr>
          <a:xfrm>
            <a:off x="415063" y="781950"/>
            <a:ext cx="4008300" cy="4075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zh-CN" sz="1200">
                <a:solidFill>
                  <a:schemeClr val="dk1"/>
                </a:solidFill>
              </a:rPr>
              <a:t>Numerical Features - Scaling</a:t>
            </a:r>
            <a:r>
              <a:rPr lang="zh-CN" sz="1200">
                <a:solidFill>
                  <a:schemeClr val="dk1"/>
                </a:solidFill>
              </a:rPr>
              <a:t>: </a:t>
            </a:r>
            <a:endParaRPr sz="1200">
              <a:solidFill>
                <a:schemeClr val="dk1"/>
              </a:solidFill>
            </a:endParaRPr>
          </a:p>
          <a:p>
            <a:pPr indent="0" lvl="0" marL="457200" rtl="0" algn="l">
              <a:lnSpc>
                <a:spcPct val="115000"/>
              </a:lnSpc>
              <a:spcBef>
                <a:spcPts val="1200"/>
              </a:spcBef>
              <a:spcAft>
                <a:spcPts val="0"/>
              </a:spcAft>
              <a:buNone/>
            </a:pPr>
            <a:r>
              <a:rPr lang="zh-CN" sz="1200">
                <a:solidFill>
                  <a:schemeClr val="dk1"/>
                </a:solidFill>
              </a:rPr>
              <a:t>Used </a:t>
            </a:r>
            <a:r>
              <a:rPr lang="zh-CN" sz="1200">
                <a:solidFill>
                  <a:schemeClr val="accent5"/>
                </a:solidFill>
                <a:latin typeface="Roboto Mono"/>
                <a:ea typeface="Roboto Mono"/>
                <a:cs typeface="Roboto Mono"/>
                <a:sym typeface="Roboto Mono"/>
              </a:rPr>
              <a:t>StandardScaler</a:t>
            </a:r>
            <a:r>
              <a:rPr lang="zh-CN" sz="1200">
                <a:solidFill>
                  <a:schemeClr val="dk1"/>
                </a:solidFill>
              </a:rPr>
              <a:t> from </a:t>
            </a:r>
            <a:r>
              <a:rPr lang="zh-CN" sz="1200">
                <a:solidFill>
                  <a:schemeClr val="accent5"/>
                </a:solidFill>
                <a:latin typeface="Roboto Mono"/>
                <a:ea typeface="Roboto Mono"/>
                <a:cs typeface="Roboto Mono"/>
                <a:sym typeface="Roboto Mono"/>
              </a:rPr>
              <a:t>sklearn.preprocessing</a:t>
            </a:r>
            <a:r>
              <a:rPr lang="zh-CN" sz="1200">
                <a:solidFill>
                  <a:schemeClr val="dk1"/>
                </a:solidFill>
              </a:rPr>
              <a:t> to scale numerical features (</a:t>
            </a:r>
            <a:r>
              <a:rPr lang="zh-CN" sz="1200">
                <a:solidFill>
                  <a:srgbClr val="188038"/>
                </a:solidFill>
                <a:latin typeface="Roboto Mono"/>
                <a:ea typeface="Roboto Mono"/>
                <a:cs typeface="Roboto Mono"/>
                <a:sym typeface="Roboto Mono"/>
              </a:rPr>
              <a:t>log_favourites_count</a:t>
            </a:r>
            <a:r>
              <a:rPr lang="zh-CN" sz="1200">
                <a:solidFill>
                  <a:schemeClr val="dk1"/>
                </a:solidFill>
              </a:rPr>
              <a:t>, </a:t>
            </a:r>
            <a:r>
              <a:rPr lang="zh-CN" sz="1200">
                <a:solidFill>
                  <a:srgbClr val="188038"/>
                </a:solidFill>
                <a:latin typeface="Roboto Mono"/>
                <a:ea typeface="Roboto Mono"/>
                <a:cs typeface="Roboto Mono"/>
                <a:sym typeface="Roboto Mono"/>
              </a:rPr>
              <a:t>log_followers_count</a:t>
            </a:r>
            <a:r>
              <a:rPr lang="zh-CN" sz="1200">
                <a:solidFill>
                  <a:schemeClr val="dk1"/>
                </a:solidFill>
              </a:rPr>
              <a:t>, </a:t>
            </a:r>
            <a:r>
              <a:rPr lang="zh-CN" sz="1200">
                <a:solidFill>
                  <a:srgbClr val="188038"/>
                </a:solidFill>
                <a:latin typeface="Roboto Mono"/>
                <a:ea typeface="Roboto Mono"/>
                <a:cs typeface="Roboto Mono"/>
                <a:sym typeface="Roboto Mono"/>
              </a:rPr>
              <a:t>log_friends_count</a:t>
            </a:r>
            <a:r>
              <a:rPr lang="zh-CN" sz="1200">
                <a:solidFill>
                  <a:schemeClr val="dk1"/>
                </a:solidFill>
              </a:rPr>
              <a:t>, </a:t>
            </a:r>
            <a:r>
              <a:rPr lang="zh-CN" sz="1200">
                <a:solidFill>
                  <a:srgbClr val="188038"/>
                </a:solidFill>
                <a:latin typeface="Roboto Mono"/>
                <a:ea typeface="Roboto Mono"/>
                <a:cs typeface="Roboto Mono"/>
                <a:sym typeface="Roboto Mono"/>
              </a:rPr>
              <a:t>log_average_tweets_per_day</a:t>
            </a:r>
            <a:r>
              <a:rPr lang="zh-CN" sz="1200">
                <a:solidFill>
                  <a:schemeClr val="dk1"/>
                </a:solidFill>
              </a:rPr>
              <a:t>, </a:t>
            </a:r>
            <a:r>
              <a:rPr lang="zh-CN" sz="1200">
                <a:solidFill>
                  <a:srgbClr val="188038"/>
                </a:solidFill>
                <a:latin typeface="Roboto Mono"/>
                <a:ea typeface="Roboto Mono"/>
                <a:cs typeface="Roboto Mono"/>
                <a:sym typeface="Roboto Mono"/>
              </a:rPr>
              <a:t>account_age_days</a:t>
            </a:r>
            <a:r>
              <a:rPr lang="zh-CN" sz="1200">
                <a:solidFill>
                  <a:schemeClr val="dk1"/>
                </a:solidFill>
              </a:rPr>
              <a:t>).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zh-CN" sz="1200">
                <a:solidFill>
                  <a:schemeClr val="dk1"/>
                </a:solidFill>
              </a:rPr>
              <a:t>Scaling was done to normalize the data, ensuring that features have similar scales, which is particularly important for models sensitive to feature magnitude differences.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b="1" lang="zh-CN" sz="1200">
                <a:solidFill>
                  <a:schemeClr val="dk1"/>
                </a:solidFill>
              </a:rPr>
              <a:t>Training and Test Set</a:t>
            </a:r>
            <a:r>
              <a:rPr lang="zh-CN" sz="1200">
                <a:solidFill>
                  <a:schemeClr val="dk1"/>
                </a:solidFill>
              </a:rPr>
              <a:t>: The scaler was fitted on the training set and then used to transform both the training and test sets. This ensures that information from the test set does not leak into the training process.</a:t>
            </a:r>
            <a:endParaRPr sz="1200">
              <a:solidFill>
                <a:schemeClr val="dk1"/>
              </a:solidFill>
            </a:endParaRPr>
          </a:p>
        </p:txBody>
      </p:sp>
      <p:sp>
        <p:nvSpPr>
          <p:cNvPr id="135" name="Google Shape;135;p20"/>
          <p:cNvSpPr txBox="1"/>
          <p:nvPr/>
        </p:nvSpPr>
        <p:spPr>
          <a:xfrm>
            <a:off x="4720638" y="781950"/>
            <a:ext cx="4008300" cy="3013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zh-CN" sz="1200">
                <a:solidFill>
                  <a:schemeClr val="dk1"/>
                </a:solidFill>
              </a:rPr>
              <a:t>Categorical Features - Encoding</a:t>
            </a:r>
            <a:r>
              <a:rPr lang="zh-CN" sz="1200">
                <a:solidFill>
                  <a:schemeClr val="dk1"/>
                </a:solidFill>
              </a:rPr>
              <a:t>: </a:t>
            </a:r>
            <a:endParaRPr sz="1200">
              <a:solidFill>
                <a:schemeClr val="dk1"/>
              </a:solidFill>
            </a:endParaRPr>
          </a:p>
          <a:p>
            <a:pPr indent="0" lvl="0" marL="457200" rtl="0" algn="l">
              <a:lnSpc>
                <a:spcPct val="115000"/>
              </a:lnSpc>
              <a:spcBef>
                <a:spcPts val="1200"/>
              </a:spcBef>
              <a:spcAft>
                <a:spcPts val="0"/>
              </a:spcAft>
              <a:buNone/>
            </a:pPr>
            <a:r>
              <a:rPr lang="zh-CN" sz="1200">
                <a:solidFill>
                  <a:schemeClr val="dk1"/>
                </a:solidFill>
              </a:rPr>
              <a:t>Used </a:t>
            </a:r>
            <a:r>
              <a:rPr lang="zh-CN" sz="1200">
                <a:solidFill>
                  <a:schemeClr val="accent5"/>
                </a:solidFill>
                <a:latin typeface="Roboto Mono"/>
                <a:ea typeface="Roboto Mono"/>
                <a:cs typeface="Roboto Mono"/>
                <a:sym typeface="Roboto Mono"/>
              </a:rPr>
              <a:t>TargetEncoder</a:t>
            </a:r>
            <a:r>
              <a:rPr lang="zh-CN" sz="1200">
                <a:solidFill>
                  <a:schemeClr val="dk1"/>
                </a:solidFill>
              </a:rPr>
              <a:t> from </a:t>
            </a:r>
            <a:r>
              <a:rPr lang="zh-CN" sz="1200">
                <a:solidFill>
                  <a:schemeClr val="accent5"/>
                </a:solidFill>
                <a:latin typeface="Roboto Mono"/>
                <a:ea typeface="Roboto Mono"/>
                <a:cs typeface="Roboto Mono"/>
                <a:sym typeface="Roboto Mono"/>
              </a:rPr>
              <a:t>category_encoders</a:t>
            </a:r>
            <a:r>
              <a:rPr lang="zh-CN" sz="1200">
                <a:solidFill>
                  <a:schemeClr val="dk1"/>
                </a:solidFill>
              </a:rPr>
              <a:t> to encode categorical features (</a:t>
            </a:r>
            <a:r>
              <a:rPr lang="zh-CN" sz="1200">
                <a:solidFill>
                  <a:srgbClr val="188038"/>
                </a:solidFill>
                <a:latin typeface="Roboto Mono"/>
                <a:ea typeface="Roboto Mono"/>
                <a:cs typeface="Roboto Mono"/>
                <a:sym typeface="Roboto Mono"/>
              </a:rPr>
              <a:t>lang</a:t>
            </a:r>
            <a:r>
              <a:rPr lang="zh-CN" sz="1200">
                <a:solidFill>
                  <a:schemeClr val="dk1"/>
                </a:solidFill>
              </a:rPr>
              <a:t>, </a:t>
            </a:r>
            <a:r>
              <a:rPr lang="zh-CN" sz="1200">
                <a:solidFill>
                  <a:srgbClr val="188038"/>
                </a:solidFill>
                <a:latin typeface="Roboto Mono"/>
                <a:ea typeface="Roboto Mono"/>
                <a:cs typeface="Roboto Mono"/>
                <a:sym typeface="Roboto Mono"/>
              </a:rPr>
              <a:t>location</a:t>
            </a:r>
            <a:r>
              <a:rPr lang="zh-CN" sz="1200">
                <a:solidFill>
                  <a:schemeClr val="dk1"/>
                </a:solidFill>
              </a:rPr>
              <a:t>).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zh-CN" sz="1200">
                <a:solidFill>
                  <a:schemeClr val="dk1"/>
                </a:solidFill>
              </a:rPr>
              <a:t>Target encoding was chosen to create numerical representations of categorical features based on their relationship with the target variable.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b="1" lang="zh-CN" sz="1200">
                <a:solidFill>
                  <a:schemeClr val="dk1"/>
                </a:solidFill>
              </a:rPr>
              <a:t>Training and Test Set</a:t>
            </a:r>
            <a:r>
              <a:rPr lang="zh-CN" sz="1200">
                <a:solidFill>
                  <a:schemeClr val="dk1"/>
                </a:solidFill>
              </a:rPr>
              <a:t>: The target encoder was fitted on the training set with </a:t>
            </a:r>
            <a:r>
              <a:rPr lang="zh-CN" sz="1200">
                <a:solidFill>
                  <a:srgbClr val="188038"/>
                </a:solidFill>
                <a:latin typeface="Roboto Mono"/>
                <a:ea typeface="Roboto Mono"/>
                <a:cs typeface="Roboto Mono"/>
                <a:sym typeface="Roboto Mono"/>
              </a:rPr>
              <a:t>y_train</a:t>
            </a:r>
            <a:r>
              <a:rPr lang="zh-CN" sz="1200">
                <a:solidFill>
                  <a:schemeClr val="dk1"/>
                </a:solidFill>
              </a:rPr>
              <a:t> and then used to transform both the training and test sets, maintaining consistency across datasets.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ctrTitle"/>
          </p:nvPr>
        </p:nvSpPr>
        <p:spPr>
          <a:xfrm>
            <a:off x="172550" y="148525"/>
            <a:ext cx="9330900" cy="474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zh-CN" sz="2000"/>
              <a:t>Machine Learning Techniques</a:t>
            </a:r>
            <a:endParaRPr sz="2000"/>
          </a:p>
        </p:txBody>
      </p:sp>
      <p:pic>
        <p:nvPicPr>
          <p:cNvPr id="141" name="Google Shape;141;p21"/>
          <p:cNvPicPr preferRelativeResize="0"/>
          <p:nvPr/>
        </p:nvPicPr>
        <p:blipFill>
          <a:blip r:embed="rId3">
            <a:alphaModFix/>
          </a:blip>
          <a:stretch>
            <a:fillRect/>
          </a:stretch>
        </p:blipFill>
        <p:spPr>
          <a:xfrm>
            <a:off x="4708275" y="1172912"/>
            <a:ext cx="4309500" cy="3119626"/>
          </a:xfrm>
          <a:prstGeom prst="rect">
            <a:avLst/>
          </a:prstGeom>
          <a:noFill/>
          <a:ln>
            <a:noFill/>
          </a:ln>
        </p:spPr>
      </p:pic>
      <p:sp>
        <p:nvSpPr>
          <p:cNvPr id="142" name="Google Shape;142;p21"/>
          <p:cNvSpPr txBox="1"/>
          <p:nvPr/>
        </p:nvSpPr>
        <p:spPr>
          <a:xfrm>
            <a:off x="88800" y="1273525"/>
            <a:ext cx="4483200" cy="31308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Clr>
                <a:schemeClr val="dk1"/>
              </a:buClr>
              <a:buSzPts val="1200"/>
              <a:buChar char="●"/>
            </a:pPr>
            <a:r>
              <a:rPr b="1" lang="zh-CN" sz="1200">
                <a:solidFill>
                  <a:schemeClr val="dk1"/>
                </a:solidFill>
              </a:rPr>
              <a:t>Basic Model</a:t>
            </a:r>
            <a:r>
              <a:rPr lang="zh-CN" sz="1200">
                <a:solidFill>
                  <a:schemeClr val="dk1"/>
                </a:solidFill>
              </a:rPr>
              <a:t>: Logistic Regression - baseline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chemeClr val="dk1"/>
                </a:solidFill>
              </a:rPr>
              <a:t>Non-Linear Model</a:t>
            </a:r>
            <a:r>
              <a:rPr lang="zh-CN" sz="1200">
                <a:solidFill>
                  <a:schemeClr val="dk1"/>
                </a:solidFill>
              </a:rPr>
              <a:t>: </a:t>
            </a:r>
            <a:endParaRPr sz="1200">
              <a:solidFill>
                <a:schemeClr val="dk1"/>
              </a:solidFill>
            </a:endParaRPr>
          </a:p>
          <a:p>
            <a:pPr indent="-304800" lvl="1" marL="914400" rtl="0" algn="l">
              <a:lnSpc>
                <a:spcPct val="115000"/>
              </a:lnSpc>
              <a:spcBef>
                <a:spcPts val="0"/>
              </a:spcBef>
              <a:spcAft>
                <a:spcPts val="0"/>
              </a:spcAft>
              <a:buClr>
                <a:schemeClr val="dk1"/>
              </a:buClr>
              <a:buSzPts val="1200"/>
              <a:buAutoNum type="alphaLcPeriod"/>
            </a:pPr>
            <a:r>
              <a:rPr b="1" lang="zh-CN" sz="1200">
                <a:solidFill>
                  <a:schemeClr val="accent5"/>
                </a:solidFill>
              </a:rPr>
              <a:t>Support Vector Machine (SVM)</a:t>
            </a:r>
            <a:r>
              <a:rPr lang="zh-CN" sz="1200">
                <a:solidFill>
                  <a:schemeClr val="dk1"/>
                </a:solidFill>
              </a:rPr>
              <a:t>: </a:t>
            </a:r>
            <a:r>
              <a:rPr lang="zh-CN" sz="1200">
                <a:solidFill>
                  <a:schemeClr val="dk1"/>
                </a:solidFill>
              </a:rPr>
              <a:t>Capable of capturing non-linear decision boundaries.</a:t>
            </a:r>
            <a:endParaRPr sz="1200">
              <a:solidFill>
                <a:schemeClr val="dk1"/>
              </a:solidFill>
            </a:endParaRPr>
          </a:p>
          <a:p>
            <a:pPr indent="-304800" lvl="1" marL="914400" rtl="0" algn="l">
              <a:lnSpc>
                <a:spcPct val="115000"/>
              </a:lnSpc>
              <a:spcBef>
                <a:spcPts val="0"/>
              </a:spcBef>
              <a:spcAft>
                <a:spcPts val="0"/>
              </a:spcAft>
              <a:buClr>
                <a:schemeClr val="dk1"/>
              </a:buClr>
              <a:buSzPts val="1200"/>
              <a:buAutoNum type="alphaLcPeriod"/>
            </a:pPr>
            <a:r>
              <a:rPr b="1" lang="zh-CN" sz="1200">
                <a:solidFill>
                  <a:schemeClr val="dk1"/>
                </a:solidFill>
              </a:rPr>
              <a:t>Tree-Based Models</a:t>
            </a:r>
            <a:r>
              <a:rPr lang="zh-CN" sz="1200">
                <a:solidFill>
                  <a:schemeClr val="dk1"/>
                </a:solidFill>
              </a:rPr>
              <a:t>: </a:t>
            </a:r>
            <a:r>
              <a:rPr b="1" lang="zh-CN" sz="1200">
                <a:solidFill>
                  <a:schemeClr val="accent5"/>
                </a:solidFill>
              </a:rPr>
              <a:t>Random Forest</a:t>
            </a:r>
            <a:r>
              <a:rPr lang="zh-CN" sz="1200">
                <a:solidFill>
                  <a:schemeClr val="accent5"/>
                </a:solidFill>
              </a:rPr>
              <a:t>,</a:t>
            </a:r>
            <a:r>
              <a:rPr lang="zh-CN" sz="1200">
                <a:solidFill>
                  <a:schemeClr val="dk1"/>
                </a:solidFill>
              </a:rPr>
              <a:t> </a:t>
            </a:r>
            <a:r>
              <a:rPr b="1" lang="zh-CN" sz="1200">
                <a:solidFill>
                  <a:schemeClr val="accent5"/>
                </a:solidFill>
              </a:rPr>
              <a:t>AdaBoost</a:t>
            </a:r>
            <a:r>
              <a:rPr lang="zh-CN" sz="1200">
                <a:solidFill>
                  <a:schemeClr val="dk1"/>
                </a:solidFill>
              </a:rPr>
              <a:t>, </a:t>
            </a:r>
            <a:r>
              <a:rPr b="1" lang="zh-CN" sz="1200">
                <a:solidFill>
                  <a:schemeClr val="accent5"/>
                </a:solidFill>
              </a:rPr>
              <a:t>XGBoost</a:t>
            </a:r>
            <a:r>
              <a:rPr b="1" lang="zh-CN" sz="1200">
                <a:solidFill>
                  <a:schemeClr val="dk1"/>
                </a:solidFill>
              </a:rPr>
              <a:t> </a:t>
            </a:r>
            <a:r>
              <a:rPr lang="zh-CN" sz="1200">
                <a:solidFill>
                  <a:schemeClr val="dk1"/>
                </a:solidFill>
              </a:rPr>
              <a:t>- Useful for capturing non-linear relationships.</a:t>
            </a:r>
            <a:endParaRPr sz="1200">
              <a:solidFill>
                <a:schemeClr val="dk1"/>
              </a:solidFill>
            </a:endParaRPr>
          </a:p>
          <a:p>
            <a:pPr indent="-304800" lvl="1" marL="914400" rtl="0" algn="l">
              <a:lnSpc>
                <a:spcPct val="115000"/>
              </a:lnSpc>
              <a:spcBef>
                <a:spcPts val="0"/>
              </a:spcBef>
              <a:spcAft>
                <a:spcPts val="0"/>
              </a:spcAft>
              <a:buClr>
                <a:schemeClr val="dk1"/>
              </a:buClr>
              <a:buSzPts val="1200"/>
              <a:buAutoNum type="alphaLcPeriod"/>
            </a:pPr>
            <a:r>
              <a:rPr b="1" lang="zh-CN" sz="1200">
                <a:solidFill>
                  <a:schemeClr val="accent5"/>
                </a:solidFill>
              </a:rPr>
              <a:t>Neural Networks</a:t>
            </a:r>
            <a:r>
              <a:rPr lang="zh-CN" sz="1200">
                <a:solidFill>
                  <a:schemeClr val="dk1"/>
                </a:solidFill>
              </a:rPr>
              <a:t>: Suitable for capturing complex patterns in the data.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chemeClr val="dk1"/>
                </a:solidFill>
              </a:rPr>
              <a:t>Other Techniques</a:t>
            </a:r>
            <a:r>
              <a:rPr lang="zh-CN" sz="1200">
                <a:solidFill>
                  <a:schemeClr val="dk1"/>
                </a:solidFill>
              </a:rPr>
              <a:t>: Consider using methods like </a:t>
            </a:r>
            <a:r>
              <a:rPr b="1" lang="zh-CN" sz="1200">
                <a:solidFill>
                  <a:schemeClr val="accent5"/>
                </a:solidFill>
              </a:rPr>
              <a:t>balanced weights</a:t>
            </a:r>
            <a:r>
              <a:rPr lang="zh-CN" sz="1200">
                <a:solidFill>
                  <a:schemeClr val="dk1"/>
                </a:solidFill>
              </a:rPr>
              <a:t> to handle the imbalanced dataset.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zh-CN" sz="1200">
                <a:solidFill>
                  <a:schemeClr val="dk1"/>
                </a:solidFill>
              </a:rPr>
              <a:t>Evaluation Metrics</a:t>
            </a:r>
            <a:r>
              <a:rPr lang="zh-CN" sz="1200">
                <a:solidFill>
                  <a:schemeClr val="dk1"/>
                </a:solidFill>
              </a:rPr>
              <a:t>: Metrics to evaluate model performance include </a:t>
            </a:r>
            <a:r>
              <a:rPr b="1" lang="zh-CN" sz="1200">
                <a:solidFill>
                  <a:schemeClr val="dk1"/>
                </a:solidFill>
              </a:rPr>
              <a:t>AUC/</a:t>
            </a:r>
            <a:r>
              <a:rPr b="1" lang="zh-CN" sz="1200">
                <a:solidFill>
                  <a:schemeClr val="dk1"/>
                </a:solidFill>
              </a:rPr>
              <a:t>ROC</a:t>
            </a:r>
            <a:r>
              <a:rPr lang="zh-CN" sz="1200">
                <a:solidFill>
                  <a:schemeClr val="dk1"/>
                </a:solidFill>
              </a:rPr>
              <a:t>, </a:t>
            </a:r>
            <a:r>
              <a:rPr b="1" lang="zh-CN" sz="1200">
                <a:solidFill>
                  <a:schemeClr val="dk1"/>
                </a:solidFill>
              </a:rPr>
              <a:t>Precision</a:t>
            </a:r>
            <a:r>
              <a:rPr lang="zh-CN" sz="1200">
                <a:solidFill>
                  <a:schemeClr val="dk1"/>
                </a:solidFill>
              </a:rPr>
              <a:t>, </a:t>
            </a:r>
            <a:r>
              <a:rPr b="1" lang="zh-CN" sz="1200">
                <a:solidFill>
                  <a:schemeClr val="dk1"/>
                </a:solidFill>
              </a:rPr>
              <a:t>Recall</a:t>
            </a:r>
            <a:r>
              <a:rPr lang="zh-CN" sz="1200">
                <a:solidFill>
                  <a:schemeClr val="dk1"/>
                </a:solidFill>
              </a:rPr>
              <a:t>, and </a:t>
            </a:r>
            <a:r>
              <a:rPr b="1" lang="zh-CN" sz="1200">
                <a:solidFill>
                  <a:schemeClr val="dk1"/>
                </a:solidFill>
              </a:rPr>
              <a:t>F1-score</a:t>
            </a:r>
            <a:r>
              <a:rPr lang="zh-CN" sz="1200">
                <a:solidFill>
                  <a:schemeClr val="dk1"/>
                </a:solidFill>
              </a:rPr>
              <a:t>.</a:t>
            </a:r>
            <a:endParaRPr sz="1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